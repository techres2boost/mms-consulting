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F36"/>
                </a:solidFill>
                <a:latin typeface="Calibri"/>
              </a:defRPr>
            </a:pPr>
            <a:r>
              <a:rPr sz="1300" b="0" i="0" u="none" strike="noStrike">
                <a:solidFill>
                  <a:srgbClr val="1A1F36"/>
                </a:solidFill>
                <a:latin typeface="Calibri"/>
              </a:rPr>
              <a:t>Marge sur les récompenses, en % du revenu publicitaire</a:t>
            </a:r>
          </a:p>
        </c:rich>
      </c:tx>
      <c:layout/>
      <c:overlay val="0"/>
    </c:title>
    <c:autoTitleDeleted val="0"/>
    <c:plotArea>
      <c:layout/>
      <c:barChart>
        <c:barDir val="col"/>
        <c:grouping val="clustered"/>
        <c:varyColors val="0"/>
        <c:ser>
          <c:idx val="0"/>
          <c:order val="0"/>
          <c:tx>
            <c:strRef>
              <c:f>Sheet1!$B$1</c:f>
              <c:strCache>
                <c:ptCount val="1"/>
                <c:pt idx="0">
                  <c:v>Annonceur à 5 TND pour mille diffusions</c:v>
                </c:pt>
              </c:strCache>
            </c:strRef>
          </c:tx>
          <c:spPr>
            <a:solidFill>
              <a:srgbClr val="6F93C2"/>
            </a:solidFill>
            <a:effectLst/>
          </c:spPr>
          <c:invertIfNegative val="0"/>
          <c:dLbls>
            <c:numFmt formatCode="0&quot;%&quot;" sourceLinked="0"/>
            <c:txPr>
              <a:bodyPr/>
              <a:lstStyle/>
              <a:p>
                <a:pPr>
                  <a:defRPr b="0" i="0" strike="noStrike" sz="900" u="none">
                    <a:solidFill>
                      <a:srgbClr val="1A1F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500 u → 100 Mo</c:v>
                  </c:pt>
                  <c:pt idx="1">
                    <c:v>2 000 u → 500 Mo</c:v>
                  </c:pt>
                  <c:pt idx="2">
                    <c:v>5 000 u → 1 DT de crédit</c:v>
                  </c:pt>
                </c:lvl>
              </c:multiLvlStrCache>
            </c:multiLvlStrRef>
          </c:cat>
          <c:val>
            <c:numRef>
              <c:f>Sheet1!$B$2:$B$4</c:f>
              <c:numCache>
                <c:formatCode>General</c:formatCode>
                <c:ptCount val="3"/>
                <c:pt idx="0">
                  <c:v>-20</c:v>
                </c:pt>
                <c:pt idx="1">
                  <c:v>-50</c:v>
                </c:pt>
                <c:pt idx="2">
                  <c:v>60</c:v>
                </c:pt>
              </c:numCache>
            </c:numRef>
          </c:val>
        </c:ser>
        <c:ser>
          <c:idx val="1"/>
          <c:order val="1"/>
          <c:tx>
            <c:strRef>
              <c:f>Sheet1!$C$1</c:f>
              <c:strCache>
                <c:ptCount val="1"/>
                <c:pt idx="0">
                  <c:v>Annonceur à 12 TND pour mille diffusions</c:v>
                </c:pt>
              </c:strCache>
            </c:strRef>
          </c:tx>
          <c:spPr>
            <a:solidFill>
              <a:srgbClr val="3A5F94"/>
            </a:solidFill>
            <a:effectLst/>
          </c:spPr>
          <c:invertIfNegative val="0"/>
          <c:dLbls>
            <c:numFmt formatCode="0&quot;%&quot;" sourceLinked="0"/>
            <c:txPr>
              <a:bodyPr/>
              <a:lstStyle/>
              <a:p>
                <a:pPr>
                  <a:defRPr b="0" i="0" strike="noStrike" sz="900" u="none">
                    <a:solidFill>
                      <a:srgbClr val="1A1F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500 u → 100 Mo</c:v>
                  </c:pt>
                  <c:pt idx="1">
                    <c:v>2 000 u → 500 Mo</c:v>
                  </c:pt>
                  <c:pt idx="2">
                    <c:v>5 000 u → 1 DT de crédit</c:v>
                  </c:pt>
                </c:lvl>
              </c:multiLvlStrCache>
            </c:multiLvlStrRef>
          </c:cat>
          <c:val>
            <c:numRef>
              <c:f>Sheet1!$C$2:$C$4</c:f>
              <c:numCache>
                <c:formatCode>General</c:formatCode>
                <c:ptCount val="3"/>
                <c:pt idx="0">
                  <c:v>50</c:v>
                </c:pt>
                <c:pt idx="1">
                  <c:v>38</c:v>
                </c:pt>
                <c:pt idx="2">
                  <c:v>83</c:v>
                </c:pt>
              </c:numCache>
            </c:numRef>
          </c:val>
        </c:ser>
        <c:ser>
          <c:idx val="2"/>
          <c:order val="2"/>
          <c:tx>
            <c:strRef>
              <c:f>Sheet1!$D$1</c:f>
              <c:strCache>
                <c:ptCount val="1"/>
                <c:pt idx="0">
                  <c:v>Annonceur à 15 TND pour mille diffusions</c:v>
                </c:pt>
              </c:strCache>
            </c:strRef>
          </c:tx>
          <c:spPr>
            <a:solidFill>
              <a:srgbClr val="1E2761"/>
            </a:solidFill>
            <a:effectLst/>
          </c:spPr>
          <c:invertIfNegative val="0"/>
          <c:dLbls>
            <c:numFmt formatCode="0&quot;%&quot;" sourceLinked="0"/>
            <c:txPr>
              <a:bodyPr/>
              <a:lstStyle/>
              <a:p>
                <a:pPr>
                  <a:defRPr b="0" i="0" strike="noStrike" sz="900" u="none">
                    <a:solidFill>
                      <a:srgbClr val="1A1F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500 u → 100 Mo</c:v>
                  </c:pt>
                  <c:pt idx="1">
                    <c:v>2 000 u → 500 Mo</c:v>
                  </c:pt>
                  <c:pt idx="2">
                    <c:v>5 000 u → 1 DT de crédit</c:v>
                  </c:pt>
                </c:lvl>
              </c:multiLvlStrCache>
            </c:multiLvlStrRef>
          </c:cat>
          <c:val>
            <c:numRef>
              <c:f>Sheet1!$D$2:$D$4</c:f>
              <c:numCache>
                <c:formatCode>General</c:formatCode>
                <c:ptCount val="3"/>
                <c:pt idx="0">
                  <c:v>60</c:v>
                </c:pt>
                <c:pt idx="1">
                  <c:v>50</c:v>
                </c:pt>
                <c:pt idx="2">
                  <c:v>87</c:v>
                </c:pt>
              </c:numCache>
            </c:numRef>
          </c:val>
        </c:ser>
        <c:dLbls>
          <c:numFmt formatCode="0&quot;%&quot;" sourceLinked="0"/>
          <c:txPr>
            <a:bodyPr/>
            <a:lstStyle/>
            <a:p>
              <a:pPr>
                <a:defRPr b="0" i="0" strike="noStrike" sz="900" u="none">
                  <a:solidFill>
                    <a:srgbClr val="1A1F36"/>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E4"/>
            </a:solidFill>
            <a:prstDash val="solid"/>
            <a:round/>
          </a:ln>
        </c:spPr>
        <c:txPr>
          <a:bodyPr/>
          <a:lstStyle/>
          <a:p>
            <a:pPr>
              <a:defRPr sz="1000" b="0" i="0" u="none" strike="noStrike">
                <a:solidFill>
                  <a:srgbClr val="1A1F36"/>
                </a:solidFill>
                <a:latin typeface="Calibri"/>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12700" cap="flat">
              <a:solidFill>
                <a:srgbClr val="E6EAF2"/>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A64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A648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répondre précisément au §18 de la spécification, qui demande d'étudier la compatibilité du scénario cible avec Android, les appels GSM, les réseaux opérateurs et les solutions VoIP. Le §24 exige un prototype avant tout développement complet : cette présentation dit quoi prototyper.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inversion (appel entrant, pas sortant) est la donnée qui structure toute l'analyse. Elle n'était pas dans le brief initial.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point 1 : la question « et si on prenait une autre techno ? » est déjà répondue. Et sur le point 3 : la spécification est bien écrite, elle demandait justement cette vérification.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utile en réunion : la sonnerie que l'appelant entend est diffusée par le central téléphonique, pas par le téléphone d'en face. Le téléphone appelé ne l'entend même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page sert à clore le débat technique. Recommandation : produire une note de 2 pages avec captures d'écran sur 4 à 6 téléphones, pour que la question ne revienne pas dans six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Voie A = le produit rêvé, mais le calendrier n'est pas maîtrisé. Voie B = maîtrisée mais avec trois vrais points durs, détaillés deux pages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 le blocage n'est pas technique, il est commercial. Et Call Com apporte ce que l'opérateur n'a pas : une force de vente annonceurs locale.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1 est celui qui peut tuer la voie B. Il doit être le premier test du prototype : couper la data du téléphone et observer ce qui arrive à l'appel.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présenter A comme meilleure que B : présenter le choix comme un arbitrage entre maîtrise du calendrier (B) et qualité du produit final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message le plus important pour débloquer la décision : il n'y a pas à attendre l'opérateur pour commencer.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Formuler comme une information, pas comme un jugement sur le projet. La décision appartient à Call 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le barème du §8.4 n'est pas un problème. Le paramètre inconnu est le prix payé par l'annonceur, et c'est ce qu'il faut aller mesurer.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2 est celui que le client n'a pas vu. Le présenter comme une question ouverte à faire qualifier, pas comme un obstacle rédhibitoire.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étapes 1 et 2 représentent environ un mois. C'est court au regard du risque évité : un développement complet sur un mécanisme non validé.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Clore sur le fait que le projet n'est pas bloqué : une seule inconnue, et un mois pour la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93F"/>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365760"/>
          </a:xfrm>
          <a:prstGeom prst="rect">
            <a:avLst/>
          </a:prstGeom>
          <a:noFill/>
          <a:ln/>
        </p:spPr>
        <p:txBody>
          <a:bodyPr wrap="square" lIns="0" tIns="0" rIns="0" bIns="0" rtlCol="0" anchor="ctr"/>
          <a:lstStyle/>
          <a:p>
            <a:pPr indent="0" marL="0">
              <a:buNone/>
            </a:pPr>
            <a:r>
              <a:rPr lang="en-US" sz="1400" b="1" spc="200" kern="0" dirty="0">
                <a:solidFill>
                  <a:srgbClr val="CADCFC"/>
                </a:solidFill>
                <a:latin typeface="Calibri" pitchFamily="34" charset="0"/>
                <a:ea typeface="Calibri" pitchFamily="34" charset="-122"/>
                <a:cs typeface="Calibri" pitchFamily="34" charset="-120"/>
              </a:rPr>
              <a:t>ÉTUDE DE FAISABILITÉ TECHNIQUE</a:t>
            </a:r>
            <a:endParaRPr lang="en-US" sz="1400" dirty="0"/>
          </a:p>
        </p:txBody>
      </p:sp>
      <p:sp>
        <p:nvSpPr>
          <p:cNvPr id="3" name="Text 1"/>
          <p:cNvSpPr txBox="1"/>
          <p:nvPr/>
        </p:nvSpPr>
        <p:spPr>
          <a:xfrm>
            <a:off x="822960" y="1828800"/>
            <a:ext cx="10515600" cy="17373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Call Com — ce qui est réalisable,</a:t>
            </a:r>
            <a:endParaRPr lang="en-US" sz="4400" dirty="0"/>
          </a:p>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et à quelles conditions</a:t>
            </a:r>
            <a:endParaRPr lang="en-US" sz="4400" dirty="0"/>
          </a:p>
        </p:txBody>
      </p:sp>
      <p:sp>
        <p:nvSpPr>
          <p:cNvPr id="4" name="Text 2"/>
          <p:cNvSpPr txBox="1"/>
          <p:nvPr/>
        </p:nvSpPr>
        <p:spPr>
          <a:xfrm>
            <a:off x="822960" y="3749040"/>
            <a:ext cx="9601200" cy="1097280"/>
          </a:xfrm>
          <a:prstGeom prst="rect">
            <a:avLst/>
          </a:prstGeom>
          <a:noFill/>
          <a:ln/>
        </p:spPr>
        <p:txBody>
          <a:bodyPr wrap="square" lIns="0" tIns="0" rIns="0" bIns="0" rtlCol="0" anchor="ctr"/>
          <a:lstStyle/>
          <a:p>
            <a:pPr indent="0" marL="0">
              <a:lnSpc>
                <a:spcPts val="2600"/>
              </a:lnSpc>
              <a:buNone/>
            </a:pPr>
            <a:r>
              <a:rPr lang="en-US" sz="1600" dirty="0">
                <a:solidFill>
                  <a:srgbClr val="CADCFC"/>
                </a:solidFill>
                <a:latin typeface="Calibri" pitchFamily="34" charset="0"/>
                <a:ea typeface="Calibri" pitchFamily="34" charset="-122"/>
                <a:cs typeface="Calibri" pitchFamily="34" charset="-120"/>
              </a:rPr>
              <a:t>Analyse des Spécifications Fonctionnelles V1.0 (septembre 2026)</a:t>
            </a:r>
            <a:endParaRPr lang="en-US" sz="1600" dirty="0"/>
          </a:p>
          <a:p>
            <a:pPr indent="0" marL="0">
              <a:lnSpc>
                <a:spcPts val="2600"/>
              </a:lnSpc>
              <a:buNone/>
            </a:pPr>
            <a:r>
              <a:rPr lang="en-US" sz="1600" dirty="0">
                <a:solidFill>
                  <a:srgbClr val="CADCFC"/>
                </a:solidFill>
                <a:latin typeface="Calibri" pitchFamily="34" charset="0"/>
                <a:ea typeface="Calibri" pitchFamily="34" charset="-122"/>
                <a:cs typeface="Calibri" pitchFamily="34" charset="-120"/>
              </a:rPr>
              <a:t>Réponse aux §18 « Point technique critique » et §24 « Prototype technique préalable »</a:t>
            </a:r>
            <a:endParaRPr lang="en-US" sz="1600" dirty="0"/>
          </a:p>
        </p:txBody>
      </p:sp>
      <p:sp>
        <p:nvSpPr>
          <p:cNvPr id="5" name="Shape 3"/>
          <p:cNvSpPr/>
          <p:nvPr/>
        </p:nvSpPr>
        <p:spPr>
          <a:xfrm>
            <a:off x="10241280" y="4846320"/>
            <a:ext cx="1371600" cy="1371600"/>
          </a:xfrm>
          <a:prstGeom prst="ellipse">
            <a:avLst/>
          </a:prstGeom>
          <a:solidFill>
            <a:srgbClr val="1E2761"/>
          </a:solidFill>
          <a:ln/>
        </p:spPr>
      </p:sp>
      <p:sp>
        <p:nvSpPr>
          <p:cNvPr id="6" name="Text 4"/>
          <p:cNvSpPr txBox="1"/>
          <p:nvPr/>
        </p:nvSpPr>
        <p:spPr>
          <a:xfrm>
            <a:off x="10241280" y="4846320"/>
            <a:ext cx="1371600" cy="1371600"/>
          </a:xfrm>
          <a:prstGeom prst="rect">
            <a:avLst/>
          </a:prstGeom>
          <a:noFill/>
          <a:ln/>
        </p:spPr>
        <p:txBody>
          <a:bodyPr wrap="square" lIns="0" tIns="0" rIns="0" bIns="0" rtlCol="0" anchor="ctr"/>
          <a:lstStyle/>
          <a:p>
            <a:pPr algn="ctr" indent="0" marL="0">
              <a:buNone/>
            </a:pPr>
            <a:r>
              <a:rPr lang="en-US" sz="2200" b="1" dirty="0">
                <a:solidFill>
                  <a:srgbClr val="CADCFC"/>
                </a:solidFill>
                <a:latin typeface="Cambria" pitchFamily="34" charset="0"/>
                <a:ea typeface="Cambria" pitchFamily="34" charset="-122"/>
                <a:cs typeface="Cambria" pitchFamily="34" charset="-120"/>
              </a:rPr>
              <a:t>V1.0</a:t>
            </a:r>
            <a:endParaRPr lang="en-US" sz="2200" dirty="0"/>
          </a:p>
        </p:txBody>
      </p:sp>
      <p:sp>
        <p:nvSpPr>
          <p:cNvPr id="7" name="Text 5"/>
          <p:cNvSpPr txBox="1"/>
          <p:nvPr/>
        </p:nvSpPr>
        <p:spPr>
          <a:xfrm>
            <a:off x="822960" y="5943600"/>
            <a:ext cx="5486400" cy="274320"/>
          </a:xfrm>
          <a:prstGeom prst="rect">
            <a:avLst/>
          </a:prstGeom>
          <a:noFill/>
          <a:ln/>
        </p:spPr>
        <p:txBody>
          <a:bodyPr wrap="square" lIns="0" tIns="0" rIns="0" bIns="0" rtlCol="0" anchor="ctr"/>
          <a:lstStyle/>
          <a:p>
            <a:pPr indent="0" marL="0">
              <a:buNone/>
            </a:pPr>
            <a:r>
              <a:rPr lang="en-US" sz="1200" dirty="0">
                <a:solidFill>
                  <a:srgbClr val="8A96B4"/>
                </a:solidFill>
                <a:latin typeface="Calibri" pitchFamily="34" charset="0"/>
                <a:ea typeface="Calibri" pitchFamily="34" charset="-122"/>
                <a:cs typeface="Calibri" pitchFamily="34" charset="-120"/>
              </a:rPr>
              <a:t>20 septembre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 scénario demandé par la spécification</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§6 — Fonction principale : publicité sur appel entrant</a:t>
            </a:r>
            <a:endParaRPr lang="en-US" sz="1500" dirty="0"/>
          </a:p>
        </p:txBody>
      </p:sp>
      <p:sp>
        <p:nvSpPr>
          <p:cNvPr id="4" name="Shape 2"/>
          <p:cNvSpPr/>
          <p:nvPr/>
        </p:nvSpPr>
        <p:spPr>
          <a:xfrm>
            <a:off x="640080" y="1965960"/>
            <a:ext cx="2066544" cy="2468880"/>
          </a:xfrm>
          <a:prstGeom prst="roundRect">
            <a:avLst>
              <a:gd name="adj" fmla="val 2655"/>
            </a:avLst>
          </a:prstGeom>
          <a:solidFill>
            <a:srgbClr val="F2F5FA"/>
          </a:solidFill>
          <a:ln/>
        </p:spPr>
      </p:sp>
      <p:sp>
        <p:nvSpPr>
          <p:cNvPr id="5" name="Shape 3"/>
          <p:cNvSpPr/>
          <p:nvPr/>
        </p:nvSpPr>
        <p:spPr>
          <a:xfrm>
            <a:off x="841248" y="2194560"/>
            <a:ext cx="384048" cy="384048"/>
          </a:xfrm>
          <a:prstGeom prst="ellipse">
            <a:avLst/>
          </a:prstGeom>
          <a:solidFill>
            <a:srgbClr val="6F93C2"/>
          </a:solidFill>
          <a:ln/>
        </p:spPr>
      </p:sp>
      <p:sp>
        <p:nvSpPr>
          <p:cNvPr id="6" name="Text 4"/>
          <p:cNvSpPr txBox="1"/>
          <p:nvPr/>
        </p:nvSpPr>
        <p:spPr>
          <a:xfrm>
            <a:off x="841248"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41248" y="2788920"/>
            <a:ext cx="1664208" cy="73152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Un tiers appelle</a:t>
            </a:r>
            <a:endParaRPr lang="en-US" sz="1350" dirty="0"/>
          </a:p>
        </p:txBody>
      </p:sp>
      <p:sp>
        <p:nvSpPr>
          <p:cNvPr id="8" name="Text 6"/>
          <p:cNvSpPr txBox="1"/>
          <p:nvPr/>
        </p:nvSpPr>
        <p:spPr>
          <a:xfrm>
            <a:off x="841248" y="3566160"/>
            <a:ext cx="1664208" cy="685800"/>
          </a:xfrm>
          <a:prstGeom prst="rect">
            <a:avLst/>
          </a:prstGeom>
          <a:noFill/>
          <a:ln/>
        </p:spPr>
        <p:txBody>
          <a:bodyPr wrap="square" lIns="0" tIns="0" rIns="0" bIns="0" rtlCol="0" anchor="ctr"/>
          <a:lstStyle/>
          <a:p>
            <a:pPr indent="0" marL="0">
              <a:lnSpc>
                <a:spcPts val="1400"/>
              </a:lnSpc>
              <a:buNone/>
            </a:pPr>
            <a:r>
              <a:rPr lang="en-US" sz="1100" dirty="0">
                <a:solidFill>
                  <a:srgbClr val="5A6480"/>
                </a:solidFill>
                <a:latin typeface="Calibri" pitchFamily="34" charset="0"/>
                <a:ea typeface="Calibri" pitchFamily="34" charset="-122"/>
                <a:cs typeface="Calibri" pitchFamily="34" charset="-120"/>
              </a:rPr>
              <a:t>l'utilisateur Call Com</a:t>
            </a:r>
            <a:endParaRPr lang="en-US" sz="1100" dirty="0"/>
          </a:p>
        </p:txBody>
      </p:sp>
      <p:sp>
        <p:nvSpPr>
          <p:cNvPr id="9" name="Shape 7"/>
          <p:cNvSpPr/>
          <p:nvPr/>
        </p:nvSpPr>
        <p:spPr>
          <a:xfrm>
            <a:off x="2743200" y="3108960"/>
            <a:ext cx="182880" cy="182880"/>
          </a:xfrm>
          <a:prstGeom prst="rightArrow">
            <a:avLst/>
          </a:prstGeom>
          <a:solidFill>
            <a:srgbClr val="AEBCD4"/>
          </a:solidFill>
          <a:ln/>
        </p:spPr>
      </p:sp>
      <p:sp>
        <p:nvSpPr>
          <p:cNvPr id="10" name="Shape 8"/>
          <p:cNvSpPr/>
          <p:nvPr/>
        </p:nvSpPr>
        <p:spPr>
          <a:xfrm>
            <a:off x="2962656" y="1965960"/>
            <a:ext cx="2066544" cy="2468880"/>
          </a:xfrm>
          <a:prstGeom prst="roundRect">
            <a:avLst>
              <a:gd name="adj" fmla="val 2655"/>
            </a:avLst>
          </a:prstGeom>
          <a:solidFill>
            <a:srgbClr val="F2F5FA"/>
          </a:solidFill>
          <a:ln/>
        </p:spPr>
      </p:sp>
      <p:sp>
        <p:nvSpPr>
          <p:cNvPr id="11" name="Shape 9"/>
          <p:cNvSpPr/>
          <p:nvPr/>
        </p:nvSpPr>
        <p:spPr>
          <a:xfrm>
            <a:off x="3163824" y="2194560"/>
            <a:ext cx="384048" cy="384048"/>
          </a:xfrm>
          <a:prstGeom prst="ellipse">
            <a:avLst/>
          </a:prstGeom>
          <a:solidFill>
            <a:srgbClr val="6F93C2"/>
          </a:solidFill>
          <a:ln/>
        </p:spPr>
      </p:sp>
      <p:sp>
        <p:nvSpPr>
          <p:cNvPr id="12" name="Text 10"/>
          <p:cNvSpPr txBox="1"/>
          <p:nvPr/>
        </p:nvSpPr>
        <p:spPr>
          <a:xfrm>
            <a:off x="3163824"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163824" y="2788920"/>
            <a:ext cx="1664208" cy="73152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Première tonalité</a:t>
            </a:r>
            <a:endParaRPr lang="en-US" sz="1350" dirty="0"/>
          </a:p>
        </p:txBody>
      </p:sp>
      <p:sp>
        <p:nvSpPr>
          <p:cNvPr id="14" name="Text 12"/>
          <p:cNvSpPr txBox="1"/>
          <p:nvPr/>
        </p:nvSpPr>
        <p:spPr>
          <a:xfrm>
            <a:off x="3163824" y="3566160"/>
            <a:ext cx="1664208" cy="685800"/>
          </a:xfrm>
          <a:prstGeom prst="rect">
            <a:avLst/>
          </a:prstGeom>
          <a:noFill/>
          <a:ln/>
        </p:spPr>
        <p:txBody>
          <a:bodyPr wrap="square" lIns="0" tIns="0" rIns="0" bIns="0" rtlCol="0" anchor="ctr"/>
          <a:lstStyle/>
          <a:p>
            <a:pPr indent="0" marL="0">
              <a:lnSpc>
                <a:spcPts val="1400"/>
              </a:lnSpc>
              <a:buNone/>
            </a:pPr>
            <a:r>
              <a:rPr lang="en-US" sz="1100" dirty="0">
                <a:solidFill>
                  <a:srgbClr val="5A6480"/>
                </a:solidFill>
                <a:latin typeface="Calibri" pitchFamily="34" charset="0"/>
                <a:ea typeface="Calibri" pitchFamily="34" charset="-122"/>
                <a:cs typeface="Calibri" pitchFamily="34" charset="-120"/>
              </a:rPr>
              <a:t>la ligne commence à sonner</a:t>
            </a:r>
            <a:endParaRPr lang="en-US" sz="1100" dirty="0"/>
          </a:p>
        </p:txBody>
      </p:sp>
      <p:sp>
        <p:nvSpPr>
          <p:cNvPr id="15" name="Shape 13"/>
          <p:cNvSpPr/>
          <p:nvPr/>
        </p:nvSpPr>
        <p:spPr>
          <a:xfrm>
            <a:off x="5065776" y="3108960"/>
            <a:ext cx="182880" cy="182880"/>
          </a:xfrm>
          <a:prstGeom prst="rightArrow">
            <a:avLst/>
          </a:prstGeom>
          <a:solidFill>
            <a:srgbClr val="AEBCD4"/>
          </a:solidFill>
          <a:ln/>
        </p:spPr>
      </p:sp>
      <p:sp>
        <p:nvSpPr>
          <p:cNvPr id="16" name="Shape 14"/>
          <p:cNvSpPr/>
          <p:nvPr/>
        </p:nvSpPr>
        <p:spPr>
          <a:xfrm>
            <a:off x="5285232" y="1965960"/>
            <a:ext cx="2066544" cy="2468880"/>
          </a:xfrm>
          <a:prstGeom prst="roundRect">
            <a:avLst>
              <a:gd name="adj" fmla="val 2655"/>
            </a:avLst>
          </a:prstGeom>
          <a:solidFill>
            <a:srgbClr val="E7EDF7"/>
          </a:solidFill>
          <a:ln w="12700">
            <a:solidFill>
              <a:srgbClr val="1E2761"/>
            </a:solidFill>
            <a:prstDash val="solid"/>
          </a:ln>
        </p:spPr>
      </p:sp>
      <p:sp>
        <p:nvSpPr>
          <p:cNvPr id="17" name="Shape 15"/>
          <p:cNvSpPr/>
          <p:nvPr/>
        </p:nvSpPr>
        <p:spPr>
          <a:xfrm>
            <a:off x="5486400" y="2194560"/>
            <a:ext cx="384048" cy="384048"/>
          </a:xfrm>
          <a:prstGeom prst="ellipse">
            <a:avLst/>
          </a:prstGeom>
          <a:solidFill>
            <a:srgbClr val="1E2761"/>
          </a:solidFill>
          <a:ln/>
        </p:spPr>
      </p:sp>
      <p:sp>
        <p:nvSpPr>
          <p:cNvPr id="18" name="Text 16"/>
          <p:cNvSpPr txBox="1"/>
          <p:nvPr/>
        </p:nvSpPr>
        <p:spPr>
          <a:xfrm>
            <a:off x="548640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5486400" y="2788920"/>
            <a:ext cx="1664208" cy="73152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Call Com prend le relais</a:t>
            </a:r>
            <a:endParaRPr lang="en-US" sz="1350" dirty="0"/>
          </a:p>
        </p:txBody>
      </p:sp>
      <p:sp>
        <p:nvSpPr>
          <p:cNvPr id="20" name="Text 18"/>
          <p:cNvSpPr txBox="1"/>
          <p:nvPr/>
        </p:nvSpPr>
        <p:spPr>
          <a:xfrm>
            <a:off x="5486400" y="3566160"/>
            <a:ext cx="1664208" cy="685800"/>
          </a:xfrm>
          <a:prstGeom prst="rect">
            <a:avLst/>
          </a:prstGeom>
          <a:noFill/>
          <a:ln/>
        </p:spPr>
        <p:txBody>
          <a:bodyPr wrap="square" lIns="0" tIns="0" rIns="0" bIns="0" rtlCol="0" anchor="ctr"/>
          <a:lstStyle/>
          <a:p>
            <a:pPr indent="0" marL="0">
              <a:lnSpc>
                <a:spcPts val="1400"/>
              </a:lnSpc>
              <a:buNone/>
            </a:pPr>
            <a:r>
              <a:rPr lang="en-US" sz="1100" dirty="0">
                <a:solidFill>
                  <a:srgbClr val="5A6480"/>
                </a:solidFill>
                <a:latin typeface="Calibri" pitchFamily="34" charset="0"/>
                <a:ea typeface="Calibri" pitchFamily="34" charset="-122"/>
                <a:cs typeface="Calibri" pitchFamily="34" charset="-120"/>
              </a:rPr>
              <a:t>diffusion d'une annonce de 3 s</a:t>
            </a:r>
            <a:endParaRPr lang="en-US" sz="1100" dirty="0"/>
          </a:p>
        </p:txBody>
      </p:sp>
      <p:sp>
        <p:nvSpPr>
          <p:cNvPr id="21" name="Shape 19"/>
          <p:cNvSpPr/>
          <p:nvPr/>
        </p:nvSpPr>
        <p:spPr>
          <a:xfrm>
            <a:off x="7388352" y="3108960"/>
            <a:ext cx="182880" cy="182880"/>
          </a:xfrm>
          <a:prstGeom prst="rightArrow">
            <a:avLst/>
          </a:prstGeom>
          <a:solidFill>
            <a:srgbClr val="AEBCD4"/>
          </a:solidFill>
          <a:ln/>
        </p:spPr>
      </p:sp>
      <p:sp>
        <p:nvSpPr>
          <p:cNvPr id="22" name="Shape 20"/>
          <p:cNvSpPr/>
          <p:nvPr/>
        </p:nvSpPr>
        <p:spPr>
          <a:xfrm>
            <a:off x="7607808" y="1965960"/>
            <a:ext cx="2066544" cy="2468880"/>
          </a:xfrm>
          <a:prstGeom prst="roundRect">
            <a:avLst>
              <a:gd name="adj" fmla="val 2655"/>
            </a:avLst>
          </a:prstGeom>
          <a:solidFill>
            <a:srgbClr val="F2F5FA"/>
          </a:solidFill>
          <a:ln/>
        </p:spPr>
      </p:sp>
      <p:sp>
        <p:nvSpPr>
          <p:cNvPr id="23" name="Shape 21"/>
          <p:cNvSpPr/>
          <p:nvPr/>
        </p:nvSpPr>
        <p:spPr>
          <a:xfrm>
            <a:off x="7808976" y="2194560"/>
            <a:ext cx="384048" cy="384048"/>
          </a:xfrm>
          <a:prstGeom prst="ellipse">
            <a:avLst/>
          </a:prstGeom>
          <a:solidFill>
            <a:srgbClr val="6F93C2"/>
          </a:solidFill>
          <a:ln/>
        </p:spPr>
      </p:sp>
      <p:sp>
        <p:nvSpPr>
          <p:cNvPr id="24" name="Text 22"/>
          <p:cNvSpPr txBox="1"/>
          <p:nvPr/>
        </p:nvSpPr>
        <p:spPr>
          <a:xfrm>
            <a:off x="7808976"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808976" y="2788920"/>
            <a:ext cx="1664208" cy="73152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L'utilisateur décroche</a:t>
            </a:r>
            <a:endParaRPr lang="en-US" sz="1350" dirty="0"/>
          </a:p>
        </p:txBody>
      </p:sp>
      <p:sp>
        <p:nvSpPr>
          <p:cNvPr id="26" name="Text 24"/>
          <p:cNvSpPr txBox="1"/>
          <p:nvPr/>
        </p:nvSpPr>
        <p:spPr>
          <a:xfrm>
            <a:off x="7808976" y="3566160"/>
            <a:ext cx="1664208" cy="685800"/>
          </a:xfrm>
          <a:prstGeom prst="rect">
            <a:avLst/>
          </a:prstGeom>
          <a:noFill/>
          <a:ln/>
        </p:spPr>
        <p:txBody>
          <a:bodyPr wrap="square" lIns="0" tIns="0" rIns="0" bIns="0" rtlCol="0" anchor="ctr"/>
          <a:lstStyle/>
          <a:p>
            <a:pPr indent="0" marL="0">
              <a:lnSpc>
                <a:spcPts val="1400"/>
              </a:lnSpc>
              <a:buNone/>
            </a:pPr>
            <a:r>
              <a:rPr lang="en-US" sz="1100" dirty="0">
                <a:solidFill>
                  <a:srgbClr val="5A6480"/>
                </a:solidFill>
                <a:latin typeface="Calibri" pitchFamily="34" charset="0"/>
                <a:ea typeface="Calibri" pitchFamily="34" charset="-122"/>
                <a:cs typeface="Calibri" pitchFamily="34" charset="-120"/>
              </a:rPr>
              <a:t>la publicité s'arrête aussitôt</a:t>
            </a:r>
            <a:endParaRPr lang="en-US" sz="1100" dirty="0"/>
          </a:p>
        </p:txBody>
      </p:sp>
      <p:sp>
        <p:nvSpPr>
          <p:cNvPr id="27" name="Shape 25"/>
          <p:cNvSpPr/>
          <p:nvPr/>
        </p:nvSpPr>
        <p:spPr>
          <a:xfrm>
            <a:off x="9710928" y="3108960"/>
            <a:ext cx="182880" cy="182880"/>
          </a:xfrm>
          <a:prstGeom prst="rightArrow">
            <a:avLst/>
          </a:prstGeom>
          <a:solidFill>
            <a:srgbClr val="AEBCD4"/>
          </a:solidFill>
          <a:ln/>
        </p:spPr>
      </p:sp>
      <p:sp>
        <p:nvSpPr>
          <p:cNvPr id="28" name="Shape 26"/>
          <p:cNvSpPr/>
          <p:nvPr/>
        </p:nvSpPr>
        <p:spPr>
          <a:xfrm>
            <a:off x="9930384" y="1965960"/>
            <a:ext cx="2066544" cy="2468880"/>
          </a:xfrm>
          <a:prstGeom prst="roundRect">
            <a:avLst>
              <a:gd name="adj" fmla="val 2655"/>
            </a:avLst>
          </a:prstGeom>
          <a:solidFill>
            <a:srgbClr val="F2F5FA"/>
          </a:solidFill>
          <a:ln/>
        </p:spPr>
      </p:sp>
      <p:sp>
        <p:nvSpPr>
          <p:cNvPr id="29" name="Shape 27"/>
          <p:cNvSpPr/>
          <p:nvPr/>
        </p:nvSpPr>
        <p:spPr>
          <a:xfrm>
            <a:off x="10131552" y="2194560"/>
            <a:ext cx="384048" cy="384048"/>
          </a:xfrm>
          <a:prstGeom prst="ellipse">
            <a:avLst/>
          </a:prstGeom>
          <a:solidFill>
            <a:srgbClr val="6F93C2"/>
          </a:solidFill>
          <a:ln/>
        </p:spPr>
      </p:sp>
      <p:sp>
        <p:nvSpPr>
          <p:cNvPr id="30" name="Text 28"/>
          <p:cNvSpPr txBox="1"/>
          <p:nvPr/>
        </p:nvSpPr>
        <p:spPr>
          <a:xfrm>
            <a:off x="10131552"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10131552" y="2788920"/>
            <a:ext cx="1664208" cy="73152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Conversation normale</a:t>
            </a:r>
            <a:endParaRPr lang="en-US" sz="1350" dirty="0"/>
          </a:p>
        </p:txBody>
      </p:sp>
      <p:sp>
        <p:nvSpPr>
          <p:cNvPr id="32" name="Text 30"/>
          <p:cNvSpPr txBox="1"/>
          <p:nvPr/>
        </p:nvSpPr>
        <p:spPr>
          <a:xfrm>
            <a:off x="10131552" y="3566160"/>
            <a:ext cx="1664208" cy="685800"/>
          </a:xfrm>
          <a:prstGeom prst="rect">
            <a:avLst/>
          </a:prstGeom>
          <a:noFill/>
          <a:ln/>
        </p:spPr>
        <p:txBody>
          <a:bodyPr wrap="square" lIns="0" tIns="0" rIns="0" bIns="0" rtlCol="0" anchor="ctr"/>
          <a:lstStyle/>
          <a:p>
            <a:pPr indent="0" marL="0">
              <a:lnSpc>
                <a:spcPts val="1400"/>
              </a:lnSpc>
              <a:buNone/>
            </a:pPr>
            <a:r>
              <a:rPr lang="en-US" sz="1100" dirty="0">
                <a:solidFill>
                  <a:srgbClr val="5A6480"/>
                </a:solidFill>
                <a:latin typeface="Calibri" pitchFamily="34" charset="0"/>
                <a:ea typeface="Calibri" pitchFamily="34" charset="-122"/>
                <a:cs typeface="Calibri" pitchFamily="34" charset="-120"/>
              </a:rPr>
              <a:t>puis attribution des unités</a:t>
            </a:r>
            <a:endParaRPr lang="en-US" sz="1100" dirty="0"/>
          </a:p>
        </p:txBody>
      </p:sp>
      <p:sp>
        <p:nvSpPr>
          <p:cNvPr id="33" name="Shape 31"/>
          <p:cNvSpPr/>
          <p:nvPr/>
        </p:nvSpPr>
        <p:spPr>
          <a:xfrm>
            <a:off x="640080" y="4800600"/>
            <a:ext cx="10881360" cy="1097280"/>
          </a:xfrm>
          <a:prstGeom prst="roundRect">
            <a:avLst>
              <a:gd name="adj" fmla="val 5000"/>
            </a:avLst>
          </a:prstGeom>
          <a:solidFill>
            <a:srgbClr val="E7EDF7"/>
          </a:solidFill>
          <a:ln/>
        </p:spPr>
      </p:sp>
      <p:sp>
        <p:nvSpPr>
          <p:cNvPr id="34" name="Text 32"/>
          <p:cNvSpPr txBox="1"/>
          <p:nvPr/>
        </p:nvSpPr>
        <p:spPr>
          <a:xfrm>
            <a:off x="914400" y="4983480"/>
            <a:ext cx="10332720" cy="731520"/>
          </a:xfrm>
          <a:prstGeom prst="rect">
            <a:avLst/>
          </a:prstGeom>
          <a:noFill/>
          <a:ln/>
        </p:spPr>
        <p:txBody>
          <a:bodyPr wrap="square" lIns="0" tIns="0" rIns="0" bIns="0" rtlCol="0" anchor="ctr"/>
          <a:lstStyle/>
          <a:p>
            <a:pPr indent="0" marL="0">
              <a:lnSpc>
                <a:spcPts val="1900"/>
              </a:lnSpc>
              <a:buNone/>
            </a:pPr>
            <a:r>
              <a:rPr lang="en-US" sz="1400" b="1" dirty="0">
                <a:solidFill>
                  <a:srgbClr val="1E2761"/>
                </a:solidFill>
                <a:latin typeface="Calibri" pitchFamily="34" charset="0"/>
                <a:ea typeface="Calibri" pitchFamily="34" charset="-122"/>
                <a:cs typeface="Calibri" pitchFamily="34" charset="-120"/>
              </a:rPr>
              <a:t>Le point à retenir : </a:t>
            </a:r>
            <a:pPr indent="0" marL="0">
              <a:lnSpc>
                <a:spcPts val="1900"/>
              </a:lnSpc>
              <a:buNone/>
            </a:pPr>
            <a:r>
              <a:rPr lang="en-US" sz="1400" dirty="0">
                <a:solidFill>
                  <a:srgbClr val="1A1F36"/>
                </a:solidFill>
                <a:latin typeface="Calibri" pitchFamily="34" charset="0"/>
                <a:ea typeface="Calibri" pitchFamily="34" charset="-122"/>
                <a:cs typeface="Calibri" pitchFamily="34" charset="-120"/>
              </a:rPr>
              <a:t>la personne qui entend la publicité est </a:t>
            </a:r>
            <a:pPr indent="0" marL="0">
              <a:lnSpc>
                <a:spcPts val="1900"/>
              </a:lnSpc>
              <a:buNone/>
            </a:pPr>
            <a:r>
              <a:rPr lang="en-US" sz="1400" b="1" dirty="0">
                <a:solidFill>
                  <a:srgbClr val="1A1F36"/>
                </a:solidFill>
                <a:latin typeface="Calibri" pitchFamily="34" charset="0"/>
                <a:ea typeface="Calibri" pitchFamily="34" charset="-122"/>
                <a:cs typeface="Calibri" pitchFamily="34" charset="-120"/>
              </a:rPr>
              <a:t>l'appelant</a:t>
            </a:r>
            <a:pPr indent="0" marL="0">
              <a:lnSpc>
                <a:spcPts val="1900"/>
              </a:lnSpc>
              <a:buNone/>
            </a:pPr>
            <a:r>
              <a:rPr lang="en-US" sz="1400" dirty="0">
                <a:solidFill>
                  <a:srgbClr val="1A1F36"/>
                </a:solidFill>
                <a:latin typeface="Calibri" pitchFamily="34" charset="0"/>
                <a:ea typeface="Calibri" pitchFamily="34" charset="-122"/>
                <a:cs typeface="Calibri" pitchFamily="34" charset="-120"/>
              </a:rPr>
              <a:t> — et l'appelant n'a pas l'application. Celui qui reçoit les unités est le propriétaire de la ligne appelée. Ce sont deux personnes différentes.</a:t>
            </a:r>
            <a:endParaRPr lang="en-US" sz="1400" dirty="0"/>
          </a:p>
        </p:txBody>
      </p:sp>
      <p:sp>
        <p:nvSpPr>
          <p:cNvPr id="35" name="Text 33"/>
          <p:cNvSpPr txBox="1"/>
          <p:nvPr/>
        </p:nvSpPr>
        <p:spPr>
          <a:xfrm>
            <a:off x="640080" y="6382512"/>
            <a:ext cx="10972800" cy="274320"/>
          </a:xfrm>
          <a:prstGeom prst="rect">
            <a:avLst/>
          </a:prstGeom>
          <a:noFill/>
          <a:ln/>
        </p:spPr>
        <p:txBody>
          <a:bodyPr wrap="square" lIns="0" tIns="0" rIns="0" bIns="0" rtlCol="0" anchor="ctr"/>
          <a:lstStyle/>
          <a:p>
            <a:pPr indent="0" marL="0">
              <a:buNone/>
            </a:pPr>
            <a:r>
              <a:rPr lang="en-US" sz="950" dirty="0">
                <a:solidFill>
                  <a:srgbClr val="95A0B8"/>
                </a:solidFill>
                <a:latin typeface="Calibri" pitchFamily="34" charset="0"/>
                <a:ea typeface="Calibri" pitchFamily="34" charset="-122"/>
                <a:cs typeface="Calibri" pitchFamily="34" charset="-120"/>
              </a:rPr>
              <a:t>Source : Call Com — Spécifications Fonctionnelles V1.0, §4 et §6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 verdict</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Réponse directe au §18 de la spécification</a:t>
            </a:r>
            <a:endParaRPr lang="en-US" sz="1500" dirty="0"/>
          </a:p>
        </p:txBody>
      </p:sp>
      <p:sp>
        <p:nvSpPr>
          <p:cNvPr id="4" name="Shape 2"/>
          <p:cNvSpPr/>
          <p:nvPr/>
        </p:nvSpPr>
        <p:spPr>
          <a:xfrm>
            <a:off x="640080" y="1691640"/>
            <a:ext cx="5257800" cy="1920240"/>
          </a:xfrm>
          <a:prstGeom prst="roundRect">
            <a:avLst>
              <a:gd name="adj" fmla="val 2857"/>
            </a:avLst>
          </a:prstGeom>
          <a:solidFill>
            <a:srgbClr val="FBEEEC"/>
          </a:solidFill>
          <a:ln w="12700">
            <a:solidFill>
              <a:srgbClr val="C0392B"/>
            </a:solidFill>
            <a:prstDash val="solid"/>
          </a:ln>
        </p:spPr>
      </p:sp>
      <p:sp>
        <p:nvSpPr>
          <p:cNvPr id="5" name="Text 3"/>
          <p:cNvSpPr txBox="1"/>
          <p:nvPr/>
        </p:nvSpPr>
        <p:spPr>
          <a:xfrm>
            <a:off x="914400" y="1874520"/>
            <a:ext cx="2011680" cy="777240"/>
          </a:xfrm>
          <a:prstGeom prst="rect">
            <a:avLst/>
          </a:prstGeom>
          <a:noFill/>
          <a:ln/>
        </p:spPr>
        <p:txBody>
          <a:bodyPr wrap="square" lIns="0" tIns="0" rIns="0" bIns="0" rtlCol="0" anchor="ctr"/>
          <a:lstStyle/>
          <a:p>
            <a:pPr indent="0" marL="0">
              <a:buNone/>
            </a:pPr>
            <a:r>
              <a:rPr lang="en-US" sz="4400" b="1" dirty="0">
                <a:solidFill>
                  <a:srgbClr val="C0392B"/>
                </a:solidFill>
                <a:latin typeface="Cambria" pitchFamily="34" charset="0"/>
                <a:ea typeface="Cambria" pitchFamily="34" charset="-122"/>
                <a:cs typeface="Cambria" pitchFamily="34" charset="-120"/>
              </a:rPr>
              <a:t>NON</a:t>
            </a:r>
            <a:endParaRPr lang="en-US" sz="4400" dirty="0"/>
          </a:p>
        </p:txBody>
      </p:sp>
      <p:sp>
        <p:nvSpPr>
          <p:cNvPr id="6" name="Text 4"/>
          <p:cNvSpPr txBox="1"/>
          <p:nvPr/>
        </p:nvSpPr>
        <p:spPr>
          <a:xfrm>
            <a:off x="914400" y="2697480"/>
            <a:ext cx="4709160" cy="777240"/>
          </a:xfrm>
          <a:prstGeom prst="rect">
            <a:avLst/>
          </a:prstGeom>
          <a:noFill/>
          <a:ln/>
        </p:spPr>
        <p:txBody>
          <a:bodyPr wrap="square" lIns="0" tIns="0" rIns="0" bIns="0" rtlCol="0" anchor="ctr"/>
          <a:lstStyle/>
          <a:p>
            <a:pPr indent="0" marL="0">
              <a:lnSpc>
                <a:spcPts val="1900"/>
              </a:lnSpc>
              <a:buNone/>
            </a:pPr>
            <a:r>
              <a:rPr lang="en-US" sz="1400" dirty="0">
                <a:solidFill>
                  <a:srgbClr val="1A1F36"/>
                </a:solidFill>
                <a:latin typeface="Calibri" pitchFamily="34" charset="0"/>
                <a:ea typeface="Calibri" pitchFamily="34" charset="-122"/>
                <a:cs typeface="Calibri" pitchFamily="34" charset="-120"/>
              </a:rPr>
              <a:t>Le scénario du §6 n'est réalisable par aucune application mobile, sur aucun système.</a:t>
            </a:r>
            <a:endParaRPr lang="en-US" sz="1400" dirty="0"/>
          </a:p>
        </p:txBody>
      </p:sp>
      <p:sp>
        <p:nvSpPr>
          <p:cNvPr id="7" name="Shape 5"/>
          <p:cNvSpPr/>
          <p:nvPr/>
        </p:nvSpPr>
        <p:spPr>
          <a:xfrm>
            <a:off x="6263640" y="1691640"/>
            <a:ext cx="5257800" cy="1920240"/>
          </a:xfrm>
          <a:prstGeom prst="roundRect">
            <a:avLst>
              <a:gd name="adj" fmla="val 2857"/>
            </a:avLst>
          </a:prstGeom>
          <a:solidFill>
            <a:srgbClr val="EAF4F0"/>
          </a:solidFill>
          <a:ln w="12700">
            <a:solidFill>
              <a:srgbClr val="1F7A5C"/>
            </a:solidFill>
            <a:prstDash val="solid"/>
          </a:ln>
        </p:spPr>
      </p:sp>
      <p:sp>
        <p:nvSpPr>
          <p:cNvPr id="8" name="Text 6"/>
          <p:cNvSpPr txBox="1"/>
          <p:nvPr/>
        </p:nvSpPr>
        <p:spPr>
          <a:xfrm>
            <a:off x="6537960" y="1874520"/>
            <a:ext cx="2011680" cy="777240"/>
          </a:xfrm>
          <a:prstGeom prst="rect">
            <a:avLst/>
          </a:prstGeom>
          <a:noFill/>
          <a:ln/>
        </p:spPr>
        <p:txBody>
          <a:bodyPr wrap="square" lIns="0" tIns="0" rIns="0" bIns="0" rtlCol="0" anchor="ctr"/>
          <a:lstStyle/>
          <a:p>
            <a:pPr indent="0" marL="0">
              <a:buNone/>
            </a:pPr>
            <a:r>
              <a:rPr lang="en-US" sz="4400" b="1" dirty="0">
                <a:solidFill>
                  <a:srgbClr val="1F7A5C"/>
                </a:solidFill>
                <a:latin typeface="Cambria" pitchFamily="34" charset="0"/>
                <a:ea typeface="Cambria" pitchFamily="34" charset="-122"/>
                <a:cs typeface="Cambria" pitchFamily="34" charset="-120"/>
              </a:rPr>
              <a:t>OUI</a:t>
            </a:r>
            <a:endParaRPr lang="en-US" sz="4400" dirty="0"/>
          </a:p>
        </p:txBody>
      </p:sp>
      <p:sp>
        <p:nvSpPr>
          <p:cNvPr id="9" name="Text 7"/>
          <p:cNvSpPr txBox="1"/>
          <p:nvPr/>
        </p:nvSpPr>
        <p:spPr>
          <a:xfrm>
            <a:off x="6537960" y="2697480"/>
            <a:ext cx="4709160" cy="777240"/>
          </a:xfrm>
          <a:prstGeom prst="rect">
            <a:avLst/>
          </a:prstGeom>
          <a:noFill/>
          <a:ln/>
        </p:spPr>
        <p:txBody>
          <a:bodyPr wrap="square" lIns="0" tIns="0" rIns="0" bIns="0" rtlCol="0" anchor="ctr"/>
          <a:lstStyle/>
          <a:p>
            <a:pPr indent="0" marL="0">
              <a:lnSpc>
                <a:spcPts val="1900"/>
              </a:lnSpc>
              <a:buNone/>
            </a:pPr>
            <a:r>
              <a:rPr lang="en-US" sz="1400" dirty="0">
                <a:solidFill>
                  <a:srgbClr val="1A1F36"/>
                </a:solidFill>
                <a:latin typeface="Calibri" pitchFamily="34" charset="0"/>
                <a:ea typeface="Calibri" pitchFamily="34" charset="-122"/>
                <a:cs typeface="Calibri" pitchFamily="34" charset="-120"/>
              </a:rPr>
              <a:t>Le produit est réalisable — par deux voies, dont une seule ne dépend pas d'un accord opérateur.</a:t>
            </a:r>
            <a:endParaRPr lang="en-US" sz="1400" dirty="0"/>
          </a:p>
        </p:txBody>
      </p:sp>
      <p:sp>
        <p:nvSpPr>
          <p:cNvPr id="10" name="Text 8"/>
          <p:cNvSpPr txBox="1"/>
          <p:nvPr/>
        </p:nvSpPr>
        <p:spPr>
          <a:xfrm>
            <a:off x="640080" y="3886200"/>
            <a:ext cx="54864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Trois précisions importantes</a:t>
            </a:r>
            <a:endParaRPr lang="en-US" sz="1500" dirty="0"/>
          </a:p>
        </p:txBody>
      </p:sp>
      <p:sp>
        <p:nvSpPr>
          <p:cNvPr id="11" name="Shape 9"/>
          <p:cNvSpPr/>
          <p:nvPr/>
        </p:nvSpPr>
        <p:spPr>
          <a:xfrm>
            <a:off x="640080" y="4343400"/>
            <a:ext cx="329184" cy="329184"/>
          </a:xfrm>
          <a:prstGeom prst="ellipse">
            <a:avLst/>
          </a:prstGeom>
          <a:solidFill>
            <a:srgbClr val="1E2761"/>
          </a:solidFill>
          <a:ln/>
        </p:spPr>
      </p:sp>
      <p:sp>
        <p:nvSpPr>
          <p:cNvPr id="12" name="Text 10"/>
          <p:cNvSpPr txBox="1"/>
          <p:nvPr/>
        </p:nvSpPr>
        <p:spPr>
          <a:xfrm>
            <a:off x="640080" y="43434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txBox="1"/>
          <p:nvPr/>
        </p:nvSpPr>
        <p:spPr>
          <a:xfrm>
            <a:off x="1115568" y="4306824"/>
            <a:ext cx="10424160" cy="566928"/>
          </a:xfrm>
          <a:prstGeom prst="rect">
            <a:avLst/>
          </a:prstGeom>
          <a:noFill/>
          <a:ln/>
        </p:spPr>
        <p:txBody>
          <a:bodyPr wrap="square" lIns="0" tIns="0" rIns="0" bIns="0" rtlCol="0" anchor="ctr"/>
          <a:lstStyle/>
          <a:p>
            <a:pPr indent="0" marL="0">
              <a:lnSpc>
                <a:spcPts val="1550"/>
              </a:lnSpc>
              <a:buNone/>
            </a:pPr>
            <a:r>
              <a:rPr lang="en-US" sz="1200" b="1" dirty="0">
                <a:solidFill>
                  <a:srgbClr val="1A1F36"/>
                </a:solidFill>
                <a:latin typeface="Calibri" pitchFamily="34" charset="0"/>
                <a:ea typeface="Calibri" pitchFamily="34" charset="-122"/>
                <a:cs typeface="Calibri" pitchFamily="34" charset="-120"/>
              </a:rPr>
              <a:t>Ce n'est pas une question de technologie choisie.  </a:t>
            </a:r>
            <a:pPr indent="0" marL="0">
              <a:lnSpc>
                <a:spcPts val="1550"/>
              </a:lnSpc>
              <a:buNone/>
            </a:pPr>
            <a:r>
              <a:rPr lang="en-US" sz="1200" dirty="0">
                <a:solidFill>
                  <a:srgbClr val="5A6480"/>
                </a:solidFill>
                <a:latin typeface="Calibri" pitchFamily="34" charset="0"/>
                <a:ea typeface="Calibri" pitchFamily="34" charset="-122"/>
                <a:cs typeface="Calibri" pitchFamily="34" charset="-120"/>
              </a:rPr>
              <a:t>Ni Android natif, ni Flutter, ni React Native ne changent quoi que ce soit. La limite vient du réseau téléphonique et des systèmes d'exploitation.</a:t>
            </a:r>
            <a:endParaRPr lang="en-US" sz="1200" dirty="0"/>
          </a:p>
        </p:txBody>
      </p:sp>
      <p:sp>
        <p:nvSpPr>
          <p:cNvPr id="14" name="Shape 12"/>
          <p:cNvSpPr/>
          <p:nvPr/>
        </p:nvSpPr>
        <p:spPr>
          <a:xfrm>
            <a:off x="640080" y="4965192"/>
            <a:ext cx="329184" cy="329184"/>
          </a:xfrm>
          <a:prstGeom prst="ellipse">
            <a:avLst/>
          </a:prstGeom>
          <a:solidFill>
            <a:srgbClr val="1E2761"/>
          </a:solidFill>
          <a:ln/>
        </p:spPr>
      </p:sp>
      <p:sp>
        <p:nvSpPr>
          <p:cNvPr id="15" name="Text 13"/>
          <p:cNvSpPr txBox="1"/>
          <p:nvPr/>
        </p:nvSpPr>
        <p:spPr>
          <a:xfrm>
            <a:off x="640080" y="4965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115568" y="4928616"/>
            <a:ext cx="10424160" cy="566928"/>
          </a:xfrm>
          <a:prstGeom prst="rect">
            <a:avLst/>
          </a:prstGeom>
          <a:noFill/>
          <a:ln/>
        </p:spPr>
        <p:txBody>
          <a:bodyPr wrap="square" lIns="0" tIns="0" rIns="0" bIns="0" rtlCol="0" anchor="ctr"/>
          <a:lstStyle/>
          <a:p>
            <a:pPr indent="0" marL="0">
              <a:lnSpc>
                <a:spcPts val="1550"/>
              </a:lnSpc>
              <a:buNone/>
            </a:pPr>
            <a:r>
              <a:rPr lang="en-US" sz="1200" b="1" dirty="0">
                <a:solidFill>
                  <a:srgbClr val="1A1F36"/>
                </a:solidFill>
                <a:latin typeface="Calibri" pitchFamily="34" charset="0"/>
                <a:ea typeface="Calibri" pitchFamily="34" charset="-122"/>
                <a:cs typeface="Calibri" pitchFamily="34" charset="-120"/>
              </a:rPr>
              <a:t>Il n'existe aucune version dégradée côté application.  </a:t>
            </a:r>
            <a:pPr indent="0" marL="0">
              <a:lnSpc>
                <a:spcPts val="1550"/>
              </a:lnSpc>
              <a:buNone/>
            </a:pPr>
            <a:r>
              <a:rPr lang="en-US" sz="1200" dirty="0">
                <a:solidFill>
                  <a:srgbClr val="5A6480"/>
                </a:solidFill>
                <a:latin typeface="Calibri" pitchFamily="34" charset="0"/>
                <a:ea typeface="Calibri" pitchFamily="34" charset="-122"/>
                <a:cs typeface="Calibri" pitchFamily="34" charset="-120"/>
              </a:rPr>
              <a:t>Puisque le son doit atteindre l'appelant, qui n'a pas l'application, on ne peut rien diffuser depuis le téléphone.</a:t>
            </a:r>
            <a:endParaRPr lang="en-US" sz="1200" dirty="0"/>
          </a:p>
        </p:txBody>
      </p:sp>
      <p:sp>
        <p:nvSpPr>
          <p:cNvPr id="17" name="Shape 15"/>
          <p:cNvSpPr/>
          <p:nvPr/>
        </p:nvSpPr>
        <p:spPr>
          <a:xfrm>
            <a:off x="640080" y="5586984"/>
            <a:ext cx="329184" cy="329184"/>
          </a:xfrm>
          <a:prstGeom prst="ellipse">
            <a:avLst/>
          </a:prstGeom>
          <a:solidFill>
            <a:srgbClr val="1E2761"/>
          </a:solidFill>
          <a:ln/>
        </p:spPr>
      </p:sp>
      <p:sp>
        <p:nvSpPr>
          <p:cNvPr id="18" name="Text 16"/>
          <p:cNvSpPr txBox="1"/>
          <p:nvPr/>
        </p:nvSpPr>
        <p:spPr>
          <a:xfrm>
            <a:off x="640080" y="55869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115568" y="5550408"/>
            <a:ext cx="10424160" cy="566928"/>
          </a:xfrm>
          <a:prstGeom prst="rect">
            <a:avLst/>
          </a:prstGeom>
          <a:noFill/>
          <a:ln/>
        </p:spPr>
        <p:txBody>
          <a:bodyPr wrap="square" lIns="0" tIns="0" rIns="0" bIns="0" rtlCol="0" anchor="ctr"/>
          <a:lstStyle/>
          <a:p>
            <a:pPr indent="0" marL="0">
              <a:lnSpc>
                <a:spcPts val="1550"/>
              </a:lnSpc>
              <a:buNone/>
            </a:pPr>
            <a:r>
              <a:rPr lang="en-US" sz="1200" b="1" dirty="0">
                <a:solidFill>
                  <a:srgbClr val="1A1F36"/>
                </a:solidFill>
                <a:latin typeface="Calibri" pitchFamily="34" charset="0"/>
                <a:ea typeface="Calibri" pitchFamily="34" charset="-122"/>
                <a:cs typeface="Calibri" pitchFamily="34" charset="-120"/>
              </a:rPr>
              <a:t>La spécification l'avait anticipé.  </a:t>
            </a:r>
            <a:pPr indent="0" marL="0">
              <a:lnSpc>
                <a:spcPts val="1550"/>
              </a:lnSpc>
              <a:buNone/>
            </a:pPr>
            <a:r>
              <a:rPr lang="en-US" sz="1200" dirty="0">
                <a:solidFill>
                  <a:srgbClr val="5A6480"/>
                </a:solidFill>
                <a:latin typeface="Calibri" pitchFamily="34" charset="0"/>
                <a:ea typeface="Calibri" pitchFamily="34" charset="-122"/>
                <a:cs typeface="Calibri" pitchFamily="34" charset="-120"/>
              </a:rPr>
              <a:t>Le §18 ne présume aucune méthode et le §24 exige un prototype préalable. La démarche du document est la bonne.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Pourquoi : qui contrôle ce que l'appelant entend</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La tonalité d'attente est produite par le réseau, pas par le téléphone appelé</a:t>
            </a:r>
            <a:endParaRPr lang="en-US" sz="1500" dirty="0"/>
          </a:p>
        </p:txBody>
      </p:sp>
      <p:sp>
        <p:nvSpPr>
          <p:cNvPr id="4" name="Shape 2"/>
          <p:cNvSpPr/>
          <p:nvPr/>
        </p:nvSpPr>
        <p:spPr>
          <a:xfrm>
            <a:off x="640080" y="2103120"/>
            <a:ext cx="2651760" cy="1463040"/>
          </a:xfrm>
          <a:prstGeom prst="roundRect">
            <a:avLst>
              <a:gd name="adj" fmla="val 3750"/>
            </a:avLst>
          </a:prstGeom>
          <a:solidFill>
            <a:srgbClr val="F2F5FA"/>
          </a:solidFill>
          <a:ln/>
        </p:spPr>
      </p:sp>
      <p:sp>
        <p:nvSpPr>
          <p:cNvPr id="5" name="Text 3"/>
          <p:cNvSpPr txBox="1"/>
          <p:nvPr/>
        </p:nvSpPr>
        <p:spPr>
          <a:xfrm>
            <a:off x="822960" y="2377440"/>
            <a:ext cx="2286000" cy="365760"/>
          </a:xfrm>
          <a:prstGeom prst="rect">
            <a:avLst/>
          </a:prstGeom>
          <a:noFill/>
          <a:ln/>
        </p:spPr>
        <p:txBody>
          <a:bodyPr wrap="square" lIns="0" tIns="0" rIns="0" bIns="0" rtlCol="0" anchor="ctr"/>
          <a:lstStyle/>
          <a:p>
            <a:pPr algn="ctr" indent="0" marL="0">
              <a:buNone/>
            </a:pPr>
            <a:r>
              <a:rPr lang="en-US" sz="1600" b="1" dirty="0">
                <a:solidFill>
                  <a:srgbClr val="1A1F36"/>
                </a:solidFill>
                <a:latin typeface="Calibri" pitchFamily="34" charset="0"/>
                <a:ea typeface="Calibri" pitchFamily="34" charset="-122"/>
                <a:cs typeface="Calibri" pitchFamily="34" charset="-120"/>
              </a:rPr>
              <a:t>L'appelant</a:t>
            </a:r>
            <a:endParaRPr lang="en-US" sz="1600" dirty="0"/>
          </a:p>
        </p:txBody>
      </p:sp>
      <p:sp>
        <p:nvSpPr>
          <p:cNvPr id="6" name="Text 4"/>
          <p:cNvSpPr txBox="1"/>
          <p:nvPr/>
        </p:nvSpPr>
        <p:spPr>
          <a:xfrm>
            <a:off x="822960" y="2788920"/>
            <a:ext cx="2286000" cy="365760"/>
          </a:xfrm>
          <a:prstGeom prst="rect">
            <a:avLst/>
          </a:prstGeom>
          <a:noFill/>
          <a:ln/>
        </p:spPr>
        <p:txBody>
          <a:bodyPr wrap="square" lIns="0" tIns="0" rIns="0" bIns="0" rtlCol="0" anchor="ctr"/>
          <a:lstStyle/>
          <a:p>
            <a:pPr algn="ctr" indent="0" marL="0">
              <a:buNone/>
            </a:pPr>
            <a:r>
              <a:rPr lang="en-US" sz="1200" dirty="0">
                <a:solidFill>
                  <a:srgbClr val="5A6480"/>
                </a:solidFill>
                <a:latin typeface="Calibri" pitchFamily="34" charset="0"/>
                <a:ea typeface="Calibri" pitchFamily="34" charset="-122"/>
                <a:cs typeface="Calibri" pitchFamily="34" charset="-120"/>
              </a:rPr>
              <a:t>entend la tonalité</a:t>
            </a:r>
            <a:endParaRPr lang="en-US" sz="1200" dirty="0"/>
          </a:p>
        </p:txBody>
      </p:sp>
      <p:sp>
        <p:nvSpPr>
          <p:cNvPr id="7" name="Shape 5"/>
          <p:cNvSpPr/>
          <p:nvPr/>
        </p:nvSpPr>
        <p:spPr>
          <a:xfrm>
            <a:off x="3886200" y="1847088"/>
            <a:ext cx="4389120" cy="1975104"/>
          </a:xfrm>
          <a:prstGeom prst="roundRect">
            <a:avLst>
              <a:gd name="adj" fmla="val 2778"/>
            </a:avLst>
          </a:prstGeom>
          <a:solidFill>
            <a:srgbClr val="1E2761"/>
          </a:solidFill>
          <a:ln/>
        </p:spPr>
      </p:sp>
      <p:sp>
        <p:nvSpPr>
          <p:cNvPr id="8" name="Text 6"/>
          <p:cNvSpPr txBox="1"/>
          <p:nvPr/>
        </p:nvSpPr>
        <p:spPr>
          <a:xfrm>
            <a:off x="4069080" y="2084832"/>
            <a:ext cx="4023360" cy="365760"/>
          </a:xfrm>
          <a:prstGeom prst="rect">
            <a:avLst/>
          </a:prstGeom>
          <a:noFill/>
          <a:ln/>
        </p:spPr>
        <p:txBody>
          <a:bodyPr wrap="square" lIns="0" tIns="0" rIns="0" bIns="0" rtlCol="0" anchor="ctr"/>
          <a:lstStyle/>
          <a:p>
            <a:pPr algn="ctr" indent="0" marL="0">
              <a:buNone/>
            </a:pPr>
            <a:r>
              <a:rPr lang="en-US" sz="1300" b="1" spc="100" kern="0" dirty="0">
                <a:solidFill>
                  <a:srgbClr val="CADCFC"/>
                </a:solidFill>
                <a:latin typeface="Calibri" pitchFamily="34" charset="0"/>
                <a:ea typeface="Calibri" pitchFamily="34" charset="-122"/>
                <a:cs typeface="Calibri" pitchFamily="34" charset="-120"/>
              </a:rPr>
              <a:t>RÉSEAU DE L'OPÉRATEUR</a:t>
            </a:r>
            <a:endParaRPr lang="en-US" sz="1300" dirty="0"/>
          </a:p>
        </p:txBody>
      </p:sp>
      <p:sp>
        <p:nvSpPr>
          <p:cNvPr id="9" name="Text 7"/>
          <p:cNvSpPr txBox="1"/>
          <p:nvPr/>
        </p:nvSpPr>
        <p:spPr>
          <a:xfrm>
            <a:off x="4069080" y="2487168"/>
            <a:ext cx="4023360" cy="914400"/>
          </a:xfrm>
          <a:prstGeom prst="rect">
            <a:avLst/>
          </a:prstGeom>
          <a:noFill/>
          <a:ln/>
        </p:spPr>
        <p:txBody>
          <a:bodyPr wrap="square" lIns="0" tIns="0" rIns="0" bIns="0" rtlCol="0" anchor="ctr"/>
          <a:lstStyle/>
          <a:p>
            <a:pPr algn="ctr" indent="0" marL="0">
              <a:lnSpc>
                <a:spcPts val="1800"/>
              </a:lnSpc>
              <a:buNone/>
            </a:pPr>
            <a:r>
              <a:rPr lang="en-US" sz="1350" dirty="0">
                <a:solidFill>
                  <a:srgbClr val="FFFFFF"/>
                </a:solidFill>
                <a:latin typeface="Calibri" pitchFamily="34" charset="0"/>
                <a:ea typeface="Calibri" pitchFamily="34" charset="-122"/>
                <a:cs typeface="Calibri" pitchFamily="34" charset="-120"/>
              </a:rPr>
              <a:t>C'est ici, et seulement ici,</a:t>
            </a:r>
            <a:endParaRPr lang="en-US" sz="1350" dirty="0"/>
          </a:p>
          <a:p>
            <a:pPr algn="ctr" indent="0" marL="0">
              <a:lnSpc>
                <a:spcPts val="1800"/>
              </a:lnSpc>
              <a:buNone/>
            </a:pPr>
            <a:r>
              <a:rPr lang="en-US" sz="1350" dirty="0">
                <a:solidFill>
                  <a:srgbClr val="FFFFFF"/>
                </a:solidFill>
                <a:latin typeface="Calibri" pitchFamily="34" charset="0"/>
                <a:ea typeface="Calibri" pitchFamily="34" charset="-122"/>
                <a:cs typeface="Calibri" pitchFamily="34" charset="-120"/>
              </a:rPr>
              <a:t>que la tonalité est générée</a:t>
            </a:r>
            <a:endParaRPr lang="en-US" sz="1350" dirty="0"/>
          </a:p>
          <a:p>
            <a:pPr algn="ctr" indent="0" marL="0">
              <a:lnSpc>
                <a:spcPts val="1800"/>
              </a:lnSpc>
              <a:buNone/>
            </a:pPr>
            <a:r>
              <a:rPr lang="en-US" sz="1350" dirty="0">
                <a:solidFill>
                  <a:srgbClr val="FFFFFF"/>
                </a:solidFill>
                <a:latin typeface="Calibri" pitchFamily="34" charset="0"/>
                <a:ea typeface="Calibri" pitchFamily="34" charset="-122"/>
                <a:cs typeface="Calibri" pitchFamily="34" charset="-120"/>
              </a:rPr>
              <a:t>et peut être remplacée</a:t>
            </a:r>
            <a:endParaRPr lang="en-US" sz="1350" dirty="0"/>
          </a:p>
        </p:txBody>
      </p:sp>
      <p:sp>
        <p:nvSpPr>
          <p:cNvPr id="10" name="Shape 8"/>
          <p:cNvSpPr/>
          <p:nvPr/>
        </p:nvSpPr>
        <p:spPr>
          <a:xfrm>
            <a:off x="8869680" y="2103120"/>
            <a:ext cx="2651760" cy="1463040"/>
          </a:xfrm>
          <a:prstGeom prst="roundRect">
            <a:avLst>
              <a:gd name="adj" fmla="val 3750"/>
            </a:avLst>
          </a:prstGeom>
          <a:solidFill>
            <a:srgbClr val="F2F5FA"/>
          </a:solidFill>
          <a:ln/>
        </p:spPr>
      </p:sp>
      <p:sp>
        <p:nvSpPr>
          <p:cNvPr id="11" name="Text 9"/>
          <p:cNvSpPr txBox="1"/>
          <p:nvPr/>
        </p:nvSpPr>
        <p:spPr>
          <a:xfrm>
            <a:off x="9052560" y="2304288"/>
            <a:ext cx="2286000" cy="365760"/>
          </a:xfrm>
          <a:prstGeom prst="rect">
            <a:avLst/>
          </a:prstGeom>
          <a:noFill/>
          <a:ln/>
        </p:spPr>
        <p:txBody>
          <a:bodyPr wrap="square" lIns="0" tIns="0" rIns="0" bIns="0" rtlCol="0" anchor="ctr"/>
          <a:lstStyle/>
          <a:p>
            <a:pPr algn="ctr" indent="0" marL="0">
              <a:buNone/>
            </a:pPr>
            <a:r>
              <a:rPr lang="en-US" sz="1600" b="1" dirty="0">
                <a:solidFill>
                  <a:srgbClr val="1A1F36"/>
                </a:solidFill>
                <a:latin typeface="Calibri" pitchFamily="34" charset="0"/>
                <a:ea typeface="Calibri" pitchFamily="34" charset="-122"/>
                <a:cs typeface="Calibri" pitchFamily="34" charset="-120"/>
              </a:rPr>
              <a:t>La ligne appelée</a:t>
            </a:r>
            <a:endParaRPr lang="en-US" sz="1600" dirty="0"/>
          </a:p>
        </p:txBody>
      </p:sp>
      <p:sp>
        <p:nvSpPr>
          <p:cNvPr id="12" name="Text 10"/>
          <p:cNvSpPr txBox="1"/>
          <p:nvPr/>
        </p:nvSpPr>
        <p:spPr>
          <a:xfrm>
            <a:off x="9052560" y="2688336"/>
            <a:ext cx="2286000" cy="594360"/>
          </a:xfrm>
          <a:prstGeom prst="rect">
            <a:avLst/>
          </a:prstGeom>
          <a:noFill/>
          <a:ln/>
        </p:spPr>
        <p:txBody>
          <a:bodyPr wrap="square" lIns="0" tIns="0" rIns="0" bIns="0" rtlCol="0" anchor="ctr"/>
          <a:lstStyle/>
          <a:p>
            <a:pPr algn="ctr" indent="0" marL="0">
              <a:lnSpc>
                <a:spcPts val="1500"/>
              </a:lnSpc>
              <a:buNone/>
            </a:pPr>
            <a:r>
              <a:rPr lang="en-US" sz="1200" dirty="0">
                <a:solidFill>
                  <a:srgbClr val="5A6480"/>
                </a:solidFill>
                <a:latin typeface="Calibri" pitchFamily="34" charset="0"/>
                <a:ea typeface="Calibri" pitchFamily="34" charset="-122"/>
                <a:cs typeface="Calibri" pitchFamily="34" charset="-120"/>
              </a:rPr>
              <a:t>+ l'application</a:t>
            </a:r>
            <a:endParaRPr lang="en-US" sz="1200" dirty="0"/>
          </a:p>
          <a:p>
            <a:pPr algn="ctr" indent="0" marL="0">
              <a:lnSpc>
                <a:spcPts val="1500"/>
              </a:lnSpc>
              <a:buNone/>
            </a:pPr>
            <a:r>
              <a:rPr lang="en-US" sz="1200" dirty="0">
                <a:solidFill>
                  <a:srgbClr val="5A6480"/>
                </a:solidFill>
                <a:latin typeface="Calibri" pitchFamily="34" charset="0"/>
                <a:ea typeface="Calibri" pitchFamily="34" charset="-122"/>
                <a:cs typeface="Calibri" pitchFamily="34" charset="-120"/>
              </a:rPr>
              <a:t>Call Com</a:t>
            </a:r>
            <a:endParaRPr lang="en-US" sz="1200" dirty="0"/>
          </a:p>
        </p:txBody>
      </p:sp>
      <p:sp>
        <p:nvSpPr>
          <p:cNvPr id="13" name="Shape 11"/>
          <p:cNvSpPr/>
          <p:nvPr/>
        </p:nvSpPr>
        <p:spPr>
          <a:xfrm>
            <a:off x="3401568" y="2670048"/>
            <a:ext cx="365760" cy="237744"/>
          </a:xfrm>
          <a:prstGeom prst="rightArrow">
            <a:avLst/>
          </a:prstGeom>
          <a:solidFill>
            <a:srgbClr val="AEBCD4"/>
          </a:solidFill>
          <a:ln/>
        </p:spPr>
      </p:sp>
      <p:sp>
        <p:nvSpPr>
          <p:cNvPr id="14" name="Shape 12"/>
          <p:cNvSpPr/>
          <p:nvPr/>
        </p:nvSpPr>
        <p:spPr>
          <a:xfrm>
            <a:off x="8385048" y="2670048"/>
            <a:ext cx="365760" cy="237744"/>
          </a:xfrm>
          <a:prstGeom prst="rightArrow">
            <a:avLst/>
          </a:prstGeom>
          <a:solidFill>
            <a:srgbClr val="AEBCD4"/>
          </a:solidFill>
          <a:ln/>
        </p:spPr>
      </p:sp>
      <p:sp>
        <p:nvSpPr>
          <p:cNvPr id="15" name="Shape 13"/>
          <p:cNvSpPr/>
          <p:nvPr/>
        </p:nvSpPr>
        <p:spPr>
          <a:xfrm>
            <a:off x="640080" y="4160520"/>
            <a:ext cx="5394960" cy="1920240"/>
          </a:xfrm>
          <a:prstGeom prst="roundRect">
            <a:avLst>
              <a:gd name="adj" fmla="val 2857"/>
            </a:avLst>
          </a:prstGeom>
          <a:solidFill>
            <a:srgbClr val="FBEEEC"/>
          </a:solidFill>
          <a:ln w="12700">
            <a:solidFill>
              <a:srgbClr val="C0392B"/>
            </a:solidFill>
            <a:prstDash val="solid"/>
          </a:ln>
        </p:spPr>
      </p:sp>
      <p:sp>
        <p:nvSpPr>
          <p:cNvPr id="16" name="Text 14"/>
          <p:cNvSpPr txBox="1"/>
          <p:nvPr/>
        </p:nvSpPr>
        <p:spPr>
          <a:xfrm>
            <a:off x="914400" y="4370832"/>
            <a:ext cx="4846320" cy="347472"/>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Ce que l'application ne peut pas faire</a:t>
            </a:r>
            <a:endParaRPr lang="en-US" sz="1400" dirty="0"/>
          </a:p>
        </p:txBody>
      </p:sp>
      <p:sp>
        <p:nvSpPr>
          <p:cNvPr id="17" name="Text 15"/>
          <p:cNvSpPr txBox="1"/>
          <p:nvPr/>
        </p:nvSpPr>
        <p:spPr>
          <a:xfrm>
            <a:off x="914400" y="4773168"/>
            <a:ext cx="4846320" cy="1188720"/>
          </a:xfrm>
          <a:prstGeom prst="rect">
            <a:avLst/>
          </a:prstGeom>
          <a:noFill/>
          <a:ln/>
        </p:spPr>
        <p:txBody>
          <a:bodyPr wrap="square" lIns="0" tIns="0" rIns="0" bIns="0" rtlCol="0" anchor="ctr"/>
          <a:lstStyle/>
          <a:p>
            <a:pPr indent="0" marL="0">
              <a:lnSpc>
                <a:spcPts val="1650"/>
              </a:lnSpc>
              <a:buNone/>
            </a:pPr>
            <a:r>
              <a:rPr lang="en-US" sz="1250" dirty="0">
                <a:solidFill>
                  <a:srgbClr val="1A1F36"/>
                </a:solidFill>
                <a:latin typeface="Calibri" pitchFamily="34" charset="0"/>
                <a:ea typeface="Calibri" pitchFamily="34" charset="-122"/>
                <a:cs typeface="Calibri" pitchFamily="34" charset="-120"/>
              </a:rPr>
              <a:t>Le téléphone appelé ne produit pas la tonalité que l'appelant entend : il la reçoit. Une application installée sur ce téléphone n'a donc aucun point d'accès sur ce que l'appelant écoute avant le décrochage.</a:t>
            </a:r>
            <a:endParaRPr lang="en-US" sz="1250" dirty="0"/>
          </a:p>
        </p:txBody>
      </p:sp>
      <p:sp>
        <p:nvSpPr>
          <p:cNvPr id="18" name="Shape 16"/>
          <p:cNvSpPr/>
          <p:nvPr/>
        </p:nvSpPr>
        <p:spPr>
          <a:xfrm>
            <a:off x="6263640" y="4160520"/>
            <a:ext cx="5257800" cy="1920240"/>
          </a:xfrm>
          <a:prstGeom prst="roundRect">
            <a:avLst>
              <a:gd name="adj" fmla="val 2857"/>
            </a:avLst>
          </a:prstGeom>
          <a:solidFill>
            <a:srgbClr val="EAF4F0"/>
          </a:solidFill>
          <a:ln w="12700">
            <a:solidFill>
              <a:srgbClr val="1F7A5C"/>
            </a:solidFill>
            <a:prstDash val="solid"/>
          </a:ln>
        </p:spPr>
      </p:sp>
      <p:sp>
        <p:nvSpPr>
          <p:cNvPr id="19" name="Text 17"/>
          <p:cNvSpPr txBox="1"/>
          <p:nvPr/>
        </p:nvSpPr>
        <p:spPr>
          <a:xfrm>
            <a:off x="6537960" y="4370832"/>
            <a:ext cx="4709160" cy="347472"/>
          </a:xfrm>
          <a:prstGeom prst="rect">
            <a:avLst/>
          </a:prstGeom>
          <a:noFill/>
          <a:ln/>
        </p:spPr>
        <p:txBody>
          <a:bodyPr wrap="square" lIns="0" tIns="0" rIns="0" bIns="0" rtlCol="0" anchor="ctr"/>
          <a:lstStyle/>
          <a:p>
            <a:pPr indent="0" marL="0">
              <a:buNone/>
            </a:pPr>
            <a:r>
              <a:rPr lang="en-US" sz="1400" b="1" dirty="0">
                <a:solidFill>
                  <a:srgbClr val="1F7A5C"/>
                </a:solidFill>
                <a:latin typeface="Calibri" pitchFamily="34" charset="0"/>
                <a:ea typeface="Calibri" pitchFamily="34" charset="-122"/>
                <a:cs typeface="Calibri" pitchFamily="34" charset="-120"/>
              </a:rPr>
              <a:t>Ce que cela implique</a:t>
            </a:r>
            <a:endParaRPr lang="en-US" sz="1400" dirty="0"/>
          </a:p>
        </p:txBody>
      </p:sp>
      <p:sp>
        <p:nvSpPr>
          <p:cNvPr id="20" name="Text 18"/>
          <p:cNvSpPr txBox="1"/>
          <p:nvPr/>
        </p:nvSpPr>
        <p:spPr>
          <a:xfrm>
            <a:off x="6537960" y="4773168"/>
            <a:ext cx="4709160" cy="1188720"/>
          </a:xfrm>
          <a:prstGeom prst="rect">
            <a:avLst/>
          </a:prstGeom>
          <a:noFill/>
          <a:ln/>
        </p:spPr>
        <p:txBody>
          <a:bodyPr wrap="square" lIns="0" tIns="0" rIns="0" bIns="0" rtlCol="0" anchor="ctr"/>
          <a:lstStyle/>
          <a:p>
            <a:pPr indent="0" marL="0">
              <a:lnSpc>
                <a:spcPts val="1650"/>
              </a:lnSpc>
              <a:buNone/>
            </a:pPr>
            <a:r>
              <a:rPr lang="en-US" sz="1250" dirty="0">
                <a:solidFill>
                  <a:srgbClr val="1A1F36"/>
                </a:solidFill>
                <a:latin typeface="Calibri" pitchFamily="34" charset="0"/>
                <a:ea typeface="Calibri" pitchFamily="34" charset="-122"/>
                <a:cs typeface="Calibri" pitchFamily="34" charset="-120"/>
              </a:rPr>
              <a:t>Pour diffuser une annonce pendant l'attente, il faut se placer dans le réseau — avec l'opérateur — ou faire passer l'appel par une plateforme Call Com avant qu'il n'atteigne l'utilisateur.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Les pistes applicatives, une par une</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Chacune a été examinée puis écartée — §18 de la spécification</a:t>
            </a:r>
            <a:endParaRPr lang="en-US" sz="1500" dirty="0"/>
          </a:p>
        </p:txBody>
      </p:sp>
      <p:sp>
        <p:nvSpPr>
          <p:cNvPr id="4" name="Shape 2"/>
          <p:cNvSpPr/>
          <p:nvPr/>
        </p:nvSpPr>
        <p:spPr>
          <a:xfrm>
            <a:off x="640080" y="1691640"/>
            <a:ext cx="10881360" cy="914400"/>
          </a:xfrm>
          <a:prstGeom prst="roundRect">
            <a:avLst>
              <a:gd name="adj" fmla="val 6000"/>
            </a:avLst>
          </a:prstGeom>
          <a:solidFill>
            <a:srgbClr val="F2F5FA"/>
          </a:solidFill>
          <a:ln/>
        </p:spPr>
      </p:sp>
      <p:sp>
        <p:nvSpPr>
          <p:cNvPr id="5" name="Shape 3"/>
          <p:cNvSpPr/>
          <p:nvPr/>
        </p:nvSpPr>
        <p:spPr>
          <a:xfrm>
            <a:off x="914400" y="1947672"/>
            <a:ext cx="402336" cy="402336"/>
          </a:xfrm>
          <a:prstGeom prst="ellipse">
            <a:avLst/>
          </a:prstGeom>
          <a:solidFill>
            <a:srgbClr val="C0392B"/>
          </a:solidFill>
          <a:ln/>
        </p:spPr>
      </p:sp>
      <p:sp>
        <p:nvSpPr>
          <p:cNvPr id="6" name="Text 4"/>
          <p:cNvSpPr txBox="1"/>
          <p:nvPr/>
        </p:nvSpPr>
        <p:spPr>
          <a:xfrm>
            <a:off x="914400" y="1947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p>
        </p:txBody>
      </p:sp>
      <p:sp>
        <p:nvSpPr>
          <p:cNvPr id="7" name="Text 5"/>
          <p:cNvSpPr txBox="1"/>
          <p:nvPr/>
        </p:nvSpPr>
        <p:spPr>
          <a:xfrm>
            <a:off x="1508760" y="1810512"/>
            <a:ext cx="3383280" cy="68580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Filtrer ou afficher l'appel entrant</a:t>
            </a:r>
            <a:endParaRPr lang="en-US" sz="1350" dirty="0"/>
          </a:p>
        </p:txBody>
      </p:sp>
      <p:sp>
        <p:nvSpPr>
          <p:cNvPr id="8" name="Text 6"/>
          <p:cNvSpPr txBox="1"/>
          <p:nvPr/>
        </p:nvSpPr>
        <p:spPr>
          <a:xfrm>
            <a:off x="5029200" y="1810512"/>
            <a:ext cx="6263640" cy="685800"/>
          </a:xfrm>
          <a:prstGeom prst="rect">
            <a:avLst/>
          </a:prstGeom>
          <a:noFill/>
          <a:ln/>
        </p:spPr>
        <p:txBody>
          <a:bodyPr wrap="square" lIns="0" tIns="0" rIns="0" bIns="0" rtlCol="0" anchor="ctr"/>
          <a:lstStyle/>
          <a:p>
            <a:pPr indent="0" marL="0">
              <a:lnSpc>
                <a:spcPts val="1500"/>
              </a:lnSpc>
              <a:buNone/>
            </a:pPr>
            <a:r>
              <a:rPr lang="en-US" sz="1150" dirty="0">
                <a:solidFill>
                  <a:srgbClr val="5A6480"/>
                </a:solidFill>
                <a:latin typeface="Calibri" pitchFamily="34" charset="0"/>
                <a:ea typeface="Calibri" pitchFamily="34" charset="-122"/>
                <a:cs typeface="Calibri" pitchFamily="34" charset="-120"/>
              </a:rPr>
              <a:t>Android permet d'identifier, filtrer ou rejeter un appel entrant. Aucun de ces mécanismes n'ouvre de canal sonore vers l'appelant.</a:t>
            </a:r>
            <a:endParaRPr lang="en-US" sz="1150" dirty="0"/>
          </a:p>
        </p:txBody>
      </p:sp>
      <p:sp>
        <p:nvSpPr>
          <p:cNvPr id="9" name="Shape 7"/>
          <p:cNvSpPr/>
          <p:nvPr/>
        </p:nvSpPr>
        <p:spPr>
          <a:xfrm>
            <a:off x="640080" y="2770632"/>
            <a:ext cx="10881360" cy="914400"/>
          </a:xfrm>
          <a:prstGeom prst="roundRect">
            <a:avLst>
              <a:gd name="adj" fmla="val 6000"/>
            </a:avLst>
          </a:prstGeom>
          <a:solidFill>
            <a:srgbClr val="FFFFFF"/>
          </a:solidFill>
          <a:ln w="12700">
            <a:solidFill>
              <a:srgbClr val="DCE4F0"/>
            </a:solidFill>
            <a:prstDash val="solid"/>
          </a:ln>
        </p:spPr>
      </p:sp>
      <p:sp>
        <p:nvSpPr>
          <p:cNvPr id="10" name="Shape 8"/>
          <p:cNvSpPr/>
          <p:nvPr/>
        </p:nvSpPr>
        <p:spPr>
          <a:xfrm>
            <a:off x="914400" y="3026664"/>
            <a:ext cx="402336" cy="402336"/>
          </a:xfrm>
          <a:prstGeom prst="ellipse">
            <a:avLst/>
          </a:prstGeom>
          <a:solidFill>
            <a:srgbClr val="C0392B"/>
          </a:solidFill>
          <a:ln/>
        </p:spPr>
      </p:sp>
      <p:sp>
        <p:nvSpPr>
          <p:cNvPr id="11" name="Text 9"/>
          <p:cNvSpPr txBox="1"/>
          <p:nvPr/>
        </p:nvSpPr>
        <p:spPr>
          <a:xfrm>
            <a:off x="914400" y="30266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p>
        </p:txBody>
      </p:sp>
      <p:sp>
        <p:nvSpPr>
          <p:cNvPr id="12" name="Text 10"/>
          <p:cNvSpPr txBox="1"/>
          <p:nvPr/>
        </p:nvSpPr>
        <p:spPr>
          <a:xfrm>
            <a:off x="1508760" y="2889504"/>
            <a:ext cx="3383280" cy="68580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Répondre automatiquement puis diffuser</a:t>
            </a:r>
            <a:endParaRPr lang="en-US" sz="1350" dirty="0"/>
          </a:p>
        </p:txBody>
      </p:sp>
      <p:sp>
        <p:nvSpPr>
          <p:cNvPr id="13" name="Text 11"/>
          <p:cNvSpPr txBox="1"/>
          <p:nvPr/>
        </p:nvSpPr>
        <p:spPr>
          <a:xfrm>
            <a:off x="5029200" y="2889504"/>
            <a:ext cx="6263640" cy="685800"/>
          </a:xfrm>
          <a:prstGeom prst="rect">
            <a:avLst/>
          </a:prstGeom>
          <a:noFill/>
          <a:ln/>
        </p:spPr>
        <p:txBody>
          <a:bodyPr wrap="square" lIns="0" tIns="0" rIns="0" bIns="0" rtlCol="0" anchor="ctr"/>
          <a:lstStyle/>
          <a:p>
            <a:pPr indent="0" marL="0">
              <a:lnSpc>
                <a:spcPts val="1500"/>
              </a:lnSpc>
              <a:buNone/>
            </a:pPr>
            <a:r>
              <a:rPr lang="en-US" sz="1150" dirty="0">
                <a:solidFill>
                  <a:srgbClr val="5A6480"/>
                </a:solidFill>
                <a:latin typeface="Calibri" pitchFamily="34" charset="0"/>
                <a:ea typeface="Calibri" pitchFamily="34" charset="-122"/>
                <a:cs typeface="Calibri" pitchFamily="34" charset="-120"/>
              </a:rPr>
              <a:t>Répondre met fin à la sonnerie : l'utilisateur ne peut alors plus « décrocher ». Et le son d'un appel en cours reste inaccessible à toute application.</a:t>
            </a:r>
            <a:endParaRPr lang="en-US" sz="1150" dirty="0"/>
          </a:p>
        </p:txBody>
      </p:sp>
      <p:sp>
        <p:nvSpPr>
          <p:cNvPr id="14" name="Shape 12"/>
          <p:cNvSpPr/>
          <p:nvPr/>
        </p:nvSpPr>
        <p:spPr>
          <a:xfrm>
            <a:off x="640080" y="3849624"/>
            <a:ext cx="10881360" cy="914400"/>
          </a:xfrm>
          <a:prstGeom prst="roundRect">
            <a:avLst>
              <a:gd name="adj" fmla="val 6000"/>
            </a:avLst>
          </a:prstGeom>
          <a:solidFill>
            <a:srgbClr val="F2F5FA"/>
          </a:solidFill>
          <a:ln/>
        </p:spPr>
      </p:sp>
      <p:sp>
        <p:nvSpPr>
          <p:cNvPr id="15" name="Shape 13"/>
          <p:cNvSpPr/>
          <p:nvPr/>
        </p:nvSpPr>
        <p:spPr>
          <a:xfrm>
            <a:off x="914400" y="4105656"/>
            <a:ext cx="402336" cy="402336"/>
          </a:xfrm>
          <a:prstGeom prst="ellipse">
            <a:avLst/>
          </a:prstGeom>
          <a:solidFill>
            <a:srgbClr val="C0392B"/>
          </a:solidFill>
          <a:ln/>
        </p:spPr>
      </p:sp>
      <p:sp>
        <p:nvSpPr>
          <p:cNvPr id="16" name="Text 14"/>
          <p:cNvSpPr txBox="1"/>
          <p:nvPr/>
        </p:nvSpPr>
        <p:spPr>
          <a:xfrm>
            <a:off x="914400" y="41056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p>
        </p:txBody>
      </p:sp>
      <p:sp>
        <p:nvSpPr>
          <p:cNvPr id="17" name="Text 15"/>
          <p:cNvSpPr txBox="1"/>
          <p:nvPr/>
        </p:nvSpPr>
        <p:spPr>
          <a:xfrm>
            <a:off x="1508760" y="3968496"/>
            <a:ext cx="3383280" cy="68580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Diffuser sur l'appel en cours</a:t>
            </a:r>
            <a:endParaRPr lang="en-US" sz="1350" dirty="0"/>
          </a:p>
        </p:txBody>
      </p:sp>
      <p:sp>
        <p:nvSpPr>
          <p:cNvPr id="18" name="Text 16"/>
          <p:cNvSpPr txBox="1"/>
          <p:nvPr/>
        </p:nvSpPr>
        <p:spPr>
          <a:xfrm>
            <a:off x="5029200" y="3968496"/>
            <a:ext cx="6263640" cy="685800"/>
          </a:xfrm>
          <a:prstGeom prst="rect">
            <a:avLst/>
          </a:prstGeom>
          <a:noFill/>
          <a:ln/>
        </p:spPr>
        <p:txBody>
          <a:bodyPr wrap="square" lIns="0" tIns="0" rIns="0" bIns="0" rtlCol="0" anchor="ctr"/>
          <a:lstStyle/>
          <a:p>
            <a:pPr indent="0" marL="0">
              <a:lnSpc>
                <a:spcPts val="1500"/>
              </a:lnSpc>
              <a:buNone/>
            </a:pPr>
            <a:r>
              <a:rPr lang="en-US" sz="1150" dirty="0">
                <a:solidFill>
                  <a:srgbClr val="5A6480"/>
                </a:solidFill>
                <a:latin typeface="Calibri" pitchFamily="34" charset="0"/>
                <a:ea typeface="Calibri" pitchFamily="34" charset="-122"/>
                <a:cs typeface="Calibri" pitchFamily="34" charset="-120"/>
              </a:rPr>
              <a:t>Le son d'un appel téléphonique classique est géré par le composant radio du téléphone, hors de portée des applications. Vrai sur Android comme sur iPhone.</a:t>
            </a:r>
            <a:endParaRPr lang="en-US" sz="1150" dirty="0"/>
          </a:p>
        </p:txBody>
      </p:sp>
      <p:sp>
        <p:nvSpPr>
          <p:cNvPr id="19" name="Shape 17"/>
          <p:cNvSpPr/>
          <p:nvPr/>
        </p:nvSpPr>
        <p:spPr>
          <a:xfrm>
            <a:off x="640080" y="4928616"/>
            <a:ext cx="10881360" cy="914400"/>
          </a:xfrm>
          <a:prstGeom prst="roundRect">
            <a:avLst>
              <a:gd name="adj" fmla="val 6000"/>
            </a:avLst>
          </a:prstGeom>
          <a:solidFill>
            <a:srgbClr val="FFFFFF"/>
          </a:solidFill>
          <a:ln w="12700">
            <a:solidFill>
              <a:srgbClr val="DCE4F0"/>
            </a:solidFill>
            <a:prstDash val="solid"/>
          </a:ln>
        </p:spPr>
      </p:sp>
      <p:sp>
        <p:nvSpPr>
          <p:cNvPr id="20" name="Shape 18"/>
          <p:cNvSpPr/>
          <p:nvPr/>
        </p:nvSpPr>
        <p:spPr>
          <a:xfrm>
            <a:off x="914400" y="5184648"/>
            <a:ext cx="402336" cy="402336"/>
          </a:xfrm>
          <a:prstGeom prst="ellipse">
            <a:avLst/>
          </a:prstGeom>
          <a:solidFill>
            <a:srgbClr val="C0392B"/>
          </a:solidFill>
          <a:ln/>
        </p:spPr>
      </p:sp>
      <p:sp>
        <p:nvSpPr>
          <p:cNvPr id="21" name="Text 19"/>
          <p:cNvSpPr txBox="1"/>
          <p:nvPr/>
        </p:nvSpPr>
        <p:spPr>
          <a:xfrm>
            <a:off x="914400" y="5184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p>
        </p:txBody>
      </p:sp>
      <p:sp>
        <p:nvSpPr>
          <p:cNvPr id="22" name="Text 20"/>
          <p:cNvSpPr txBox="1"/>
          <p:nvPr/>
        </p:nvSpPr>
        <p:spPr>
          <a:xfrm>
            <a:off x="1508760" y="5047488"/>
            <a:ext cx="3383280" cy="685800"/>
          </a:xfrm>
          <a:prstGeom prst="rect">
            <a:avLst/>
          </a:prstGeom>
          <a:noFill/>
          <a:ln/>
        </p:spPr>
        <p:txBody>
          <a:bodyPr wrap="square" lIns="0" tIns="0" rIns="0" bIns="0" rtlCol="0" anchor="ctr"/>
          <a:lstStyle/>
          <a:p>
            <a:pPr indent="0" marL="0">
              <a:lnSpc>
                <a:spcPts val="1700"/>
              </a:lnSpc>
              <a:buNone/>
            </a:pPr>
            <a:r>
              <a:rPr lang="en-US" sz="1350" b="1" dirty="0">
                <a:solidFill>
                  <a:srgbClr val="1A1F36"/>
                </a:solidFill>
                <a:latin typeface="Calibri" pitchFamily="34" charset="0"/>
                <a:ea typeface="Calibri" pitchFamily="34" charset="-122"/>
                <a:cs typeface="Calibri" pitchFamily="34" charset="-120"/>
              </a:rPr>
              <a:t>Utiliser le répondeur ou un renvoi simple</a:t>
            </a:r>
            <a:endParaRPr lang="en-US" sz="1350" dirty="0"/>
          </a:p>
        </p:txBody>
      </p:sp>
      <p:sp>
        <p:nvSpPr>
          <p:cNvPr id="23" name="Text 21"/>
          <p:cNvSpPr txBox="1"/>
          <p:nvPr/>
        </p:nvSpPr>
        <p:spPr>
          <a:xfrm>
            <a:off x="5029200" y="5047488"/>
            <a:ext cx="6263640" cy="685800"/>
          </a:xfrm>
          <a:prstGeom prst="rect">
            <a:avLst/>
          </a:prstGeom>
          <a:noFill/>
          <a:ln/>
        </p:spPr>
        <p:txBody>
          <a:bodyPr wrap="square" lIns="0" tIns="0" rIns="0" bIns="0" rtlCol="0" anchor="ctr"/>
          <a:lstStyle/>
          <a:p>
            <a:pPr indent="0" marL="0">
              <a:lnSpc>
                <a:spcPts val="1500"/>
              </a:lnSpc>
              <a:buNone/>
            </a:pPr>
            <a:r>
              <a:rPr lang="en-US" sz="1150" dirty="0">
                <a:solidFill>
                  <a:srgbClr val="5A6480"/>
                </a:solidFill>
                <a:latin typeface="Calibri" pitchFamily="34" charset="0"/>
                <a:ea typeface="Calibri" pitchFamily="34" charset="-122"/>
                <a:cs typeface="Calibri" pitchFamily="34" charset="-120"/>
              </a:rPr>
              <a:t>Un renvoi sur non-réponse fait d'abord sonner le téléphone sans publicité, puis basculer. L'utilisateur ne peut plus décrocher : le scénario du §6 n'est pas respecté.</a:t>
            </a:r>
            <a:endParaRPr lang="en-US" sz="1150" dirty="0"/>
          </a:p>
        </p:txBody>
      </p:sp>
      <p:sp>
        <p:nvSpPr>
          <p:cNvPr id="24" name="Text 22"/>
          <p:cNvSpPr txBox="1"/>
          <p:nvPr/>
        </p:nvSpPr>
        <p:spPr>
          <a:xfrm>
            <a:off x="640080" y="6035040"/>
            <a:ext cx="1088136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Conclusion : aucune de ces pistes ne permet de diffuser un son à l'appelant avant qu'il ne soit décroché.</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Deux voies restent ouvertes</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Elles ne s'excluent pas : la seconde peut préparer la première</a:t>
            </a:r>
            <a:endParaRPr lang="en-US" sz="1500" dirty="0"/>
          </a:p>
        </p:txBody>
      </p:sp>
      <p:sp>
        <p:nvSpPr>
          <p:cNvPr id="4" name="Shape 2"/>
          <p:cNvSpPr/>
          <p:nvPr/>
        </p:nvSpPr>
        <p:spPr>
          <a:xfrm>
            <a:off x="640080" y="1645920"/>
            <a:ext cx="5349240" cy="4069080"/>
          </a:xfrm>
          <a:prstGeom prst="roundRect">
            <a:avLst>
              <a:gd name="adj" fmla="val 1348"/>
            </a:avLst>
          </a:prstGeom>
          <a:solidFill>
            <a:srgbClr val="F2F5FA"/>
          </a:solidFill>
          <a:ln w="12700">
            <a:solidFill>
              <a:srgbClr val="1E2761"/>
            </a:solidFill>
            <a:prstDash val="solid"/>
          </a:ln>
        </p:spPr>
      </p:sp>
      <p:sp>
        <p:nvSpPr>
          <p:cNvPr id="5" name="Shape 3"/>
          <p:cNvSpPr/>
          <p:nvPr/>
        </p:nvSpPr>
        <p:spPr>
          <a:xfrm>
            <a:off x="914400" y="1874520"/>
            <a:ext cx="566928" cy="566928"/>
          </a:xfrm>
          <a:prstGeom prst="ellipse">
            <a:avLst/>
          </a:prstGeom>
          <a:solidFill>
            <a:srgbClr val="1E2761"/>
          </a:solidFill>
          <a:ln/>
        </p:spPr>
      </p:sp>
      <p:sp>
        <p:nvSpPr>
          <p:cNvPr id="6" name="Text 4"/>
          <p:cNvSpPr txBox="1"/>
          <p:nvPr/>
        </p:nvSpPr>
        <p:spPr>
          <a:xfrm>
            <a:off x="91440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7" name="Text 5"/>
          <p:cNvSpPr txBox="1"/>
          <p:nvPr/>
        </p:nvSpPr>
        <p:spPr>
          <a:xfrm>
            <a:off x="1645920" y="1901952"/>
            <a:ext cx="4023360" cy="36576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Partenariat opérateur</a:t>
            </a:r>
            <a:endParaRPr lang="en-US" sz="2100" dirty="0"/>
          </a:p>
        </p:txBody>
      </p:sp>
      <p:sp>
        <p:nvSpPr>
          <p:cNvPr id="8" name="Text 6"/>
          <p:cNvSpPr txBox="1"/>
          <p:nvPr/>
        </p:nvSpPr>
        <p:spPr>
          <a:xfrm>
            <a:off x="1645920" y="2286000"/>
            <a:ext cx="4023360" cy="274320"/>
          </a:xfrm>
          <a:prstGeom prst="rect">
            <a:avLst/>
          </a:prstGeom>
          <a:noFill/>
          <a:ln/>
        </p:spPr>
        <p:txBody>
          <a:bodyPr wrap="square" lIns="0" tIns="0" rIns="0" bIns="0" rtlCol="0" anchor="ctr"/>
          <a:lstStyle/>
          <a:p>
            <a:pPr indent="0" marL="0">
              <a:buNone/>
            </a:pPr>
            <a:r>
              <a:rPr lang="en-US" sz="1200" dirty="0">
                <a:solidFill>
                  <a:srgbClr val="5A6480"/>
                </a:solidFill>
                <a:latin typeface="Calibri" pitchFamily="34" charset="0"/>
                <a:ea typeface="Calibri" pitchFamily="34" charset="-122"/>
                <a:cs typeface="Calibri" pitchFamily="34" charset="-120"/>
              </a:rPr>
              <a:t>La voie native du produit</a:t>
            </a:r>
            <a:endParaRPr lang="en-US" sz="1200" dirty="0"/>
          </a:p>
        </p:txBody>
      </p:sp>
      <p:sp>
        <p:nvSpPr>
          <p:cNvPr id="9" name="Text 7"/>
          <p:cNvSpPr txBox="1"/>
          <p:nvPr/>
        </p:nvSpPr>
        <p:spPr>
          <a:xfrm>
            <a:off x="914400" y="2743200"/>
            <a:ext cx="4800600" cy="1188720"/>
          </a:xfrm>
          <a:prstGeom prst="rect">
            <a:avLst/>
          </a:prstGeom>
          <a:noFill/>
          <a:ln/>
        </p:spPr>
        <p:txBody>
          <a:bodyPr wrap="square" lIns="0" tIns="0" rIns="0" bIns="0"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Ce que décrit la spécification existe déjà comme service télécom : la tonalité d'attente personnalisée, vendue par les opérateurs. Call Com y apporterait les annonceurs et les récompenses.</a:t>
            </a:r>
            <a:endParaRPr lang="en-US" sz="1250" dirty="0"/>
          </a:p>
        </p:txBody>
      </p:sp>
      <p:sp>
        <p:nvSpPr>
          <p:cNvPr id="10" name="Text 8"/>
          <p:cNvSpPr txBox="1"/>
          <p:nvPr/>
        </p:nvSpPr>
        <p:spPr>
          <a:xfrm>
            <a:off x="914400" y="3977640"/>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Conformité au §6</a:t>
            </a:r>
            <a:endParaRPr lang="en-US" sz="1150" dirty="0"/>
          </a:p>
        </p:txBody>
      </p:sp>
      <p:sp>
        <p:nvSpPr>
          <p:cNvPr id="11" name="Text 9"/>
          <p:cNvSpPr txBox="1"/>
          <p:nvPr/>
        </p:nvSpPr>
        <p:spPr>
          <a:xfrm>
            <a:off x="3383280" y="3977640"/>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Totale</a:t>
            </a:r>
            <a:endParaRPr lang="en-US" sz="1150" dirty="0"/>
          </a:p>
        </p:txBody>
      </p:sp>
      <p:sp>
        <p:nvSpPr>
          <p:cNvPr id="12" name="Text 10"/>
          <p:cNvSpPr txBox="1"/>
          <p:nvPr/>
        </p:nvSpPr>
        <p:spPr>
          <a:xfrm>
            <a:off x="914400" y="4398264"/>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Qualité d'appel</a:t>
            </a:r>
            <a:endParaRPr lang="en-US" sz="1150" dirty="0"/>
          </a:p>
        </p:txBody>
      </p:sp>
      <p:sp>
        <p:nvSpPr>
          <p:cNvPr id="13" name="Text 11"/>
          <p:cNvSpPr txBox="1"/>
          <p:nvPr/>
        </p:nvSpPr>
        <p:spPr>
          <a:xfrm>
            <a:off x="3383280" y="4398264"/>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Intacte</a:t>
            </a:r>
            <a:endParaRPr lang="en-US" sz="1150" dirty="0"/>
          </a:p>
        </p:txBody>
      </p:sp>
      <p:sp>
        <p:nvSpPr>
          <p:cNvPr id="14" name="Text 12"/>
          <p:cNvSpPr txBox="1"/>
          <p:nvPr/>
        </p:nvSpPr>
        <p:spPr>
          <a:xfrm>
            <a:off x="914400" y="4818888"/>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Délai réaliste</a:t>
            </a:r>
            <a:endParaRPr lang="en-US" sz="1150" dirty="0"/>
          </a:p>
        </p:txBody>
      </p:sp>
      <p:sp>
        <p:nvSpPr>
          <p:cNvPr id="15" name="Text 13"/>
          <p:cNvSpPr txBox="1"/>
          <p:nvPr/>
        </p:nvSpPr>
        <p:spPr>
          <a:xfrm>
            <a:off x="3383280" y="4818888"/>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6 à 18 mois</a:t>
            </a:r>
            <a:endParaRPr lang="en-US" sz="1150" dirty="0"/>
          </a:p>
        </p:txBody>
      </p:sp>
      <p:sp>
        <p:nvSpPr>
          <p:cNvPr id="16" name="Text 14"/>
          <p:cNvSpPr txBox="1"/>
          <p:nvPr/>
        </p:nvSpPr>
        <p:spPr>
          <a:xfrm>
            <a:off x="914400" y="5239512"/>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Maîtrise</a:t>
            </a:r>
            <a:endParaRPr lang="en-US" sz="1150" dirty="0"/>
          </a:p>
        </p:txBody>
      </p:sp>
      <p:sp>
        <p:nvSpPr>
          <p:cNvPr id="17" name="Text 15"/>
          <p:cNvSpPr txBox="1"/>
          <p:nvPr/>
        </p:nvSpPr>
        <p:spPr>
          <a:xfrm>
            <a:off x="3383280" y="5239512"/>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Dépend d'un tiers</a:t>
            </a:r>
            <a:endParaRPr lang="en-US" sz="1150" dirty="0"/>
          </a:p>
        </p:txBody>
      </p:sp>
      <p:sp>
        <p:nvSpPr>
          <p:cNvPr id="18" name="Shape 16"/>
          <p:cNvSpPr/>
          <p:nvPr/>
        </p:nvSpPr>
        <p:spPr>
          <a:xfrm>
            <a:off x="6172200" y="1645920"/>
            <a:ext cx="5349240" cy="4069080"/>
          </a:xfrm>
          <a:prstGeom prst="roundRect">
            <a:avLst>
              <a:gd name="adj" fmla="val 1348"/>
            </a:avLst>
          </a:prstGeom>
          <a:solidFill>
            <a:srgbClr val="FFFFFF"/>
          </a:solidFill>
          <a:ln w="12700">
            <a:solidFill>
              <a:srgbClr val="DCE4F0"/>
            </a:solidFill>
            <a:prstDash val="solid"/>
          </a:ln>
        </p:spPr>
      </p:sp>
      <p:sp>
        <p:nvSpPr>
          <p:cNvPr id="19" name="Shape 17"/>
          <p:cNvSpPr/>
          <p:nvPr/>
        </p:nvSpPr>
        <p:spPr>
          <a:xfrm>
            <a:off x="6446520" y="1874520"/>
            <a:ext cx="566928" cy="566928"/>
          </a:xfrm>
          <a:prstGeom prst="ellipse">
            <a:avLst/>
          </a:prstGeom>
          <a:solidFill>
            <a:srgbClr val="3A5F94"/>
          </a:solidFill>
          <a:ln/>
        </p:spPr>
      </p:sp>
      <p:sp>
        <p:nvSpPr>
          <p:cNvPr id="20" name="Text 18"/>
          <p:cNvSpPr txBox="1"/>
          <p:nvPr/>
        </p:nvSpPr>
        <p:spPr>
          <a:xfrm>
            <a:off x="644652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21" name="Text 19"/>
          <p:cNvSpPr txBox="1"/>
          <p:nvPr/>
        </p:nvSpPr>
        <p:spPr>
          <a:xfrm>
            <a:off x="7178040" y="1901952"/>
            <a:ext cx="4023360" cy="365760"/>
          </a:xfrm>
          <a:prstGeom prst="rect">
            <a:avLst/>
          </a:prstGeom>
          <a:noFill/>
          <a:ln/>
        </p:spPr>
        <p:txBody>
          <a:bodyPr wrap="square" lIns="0" tIns="0" rIns="0" bIns="0" rtlCol="0" anchor="ctr"/>
          <a:lstStyle/>
          <a:p>
            <a:pPr indent="0" marL="0">
              <a:buNone/>
            </a:pPr>
            <a:r>
              <a:rPr lang="en-US" sz="2100" b="1" dirty="0">
                <a:solidFill>
                  <a:srgbClr val="3A5F94"/>
                </a:solidFill>
                <a:latin typeface="Cambria" pitchFamily="34" charset="0"/>
                <a:ea typeface="Cambria" pitchFamily="34" charset="-122"/>
                <a:cs typeface="Cambria" pitchFamily="34" charset="-120"/>
              </a:rPr>
              <a:t>Plateforme Call Com</a:t>
            </a:r>
            <a:endParaRPr lang="en-US" sz="2100" dirty="0"/>
          </a:p>
        </p:txBody>
      </p:sp>
      <p:sp>
        <p:nvSpPr>
          <p:cNvPr id="22" name="Text 20"/>
          <p:cNvSpPr txBox="1"/>
          <p:nvPr/>
        </p:nvSpPr>
        <p:spPr>
          <a:xfrm>
            <a:off x="7178040" y="2286000"/>
            <a:ext cx="4114800" cy="274320"/>
          </a:xfrm>
          <a:prstGeom prst="rect">
            <a:avLst/>
          </a:prstGeom>
          <a:noFill/>
          <a:ln/>
        </p:spPr>
        <p:txBody>
          <a:bodyPr wrap="square" lIns="0" tIns="0" rIns="0" bIns="0" rtlCol="0" anchor="ctr"/>
          <a:lstStyle/>
          <a:p>
            <a:pPr indent="0" marL="0">
              <a:buNone/>
            </a:pPr>
            <a:r>
              <a:rPr lang="en-US" sz="1200" dirty="0">
                <a:solidFill>
                  <a:srgbClr val="5A6480"/>
                </a:solidFill>
                <a:latin typeface="Calibri" pitchFamily="34" charset="0"/>
                <a:ea typeface="Calibri" pitchFamily="34" charset="-122"/>
                <a:cs typeface="Calibri" pitchFamily="34" charset="-120"/>
              </a:rPr>
              <a:t>Sans accord opérateur, mais sous conditions</a:t>
            </a:r>
            <a:endParaRPr lang="en-US" sz="1200" dirty="0"/>
          </a:p>
        </p:txBody>
      </p:sp>
      <p:sp>
        <p:nvSpPr>
          <p:cNvPr id="23" name="Text 21"/>
          <p:cNvSpPr txBox="1"/>
          <p:nvPr/>
        </p:nvSpPr>
        <p:spPr>
          <a:xfrm>
            <a:off x="6446520" y="2743200"/>
            <a:ext cx="4800600" cy="1188720"/>
          </a:xfrm>
          <a:prstGeom prst="rect">
            <a:avLst/>
          </a:prstGeom>
          <a:noFill/>
          <a:ln/>
        </p:spPr>
        <p:txBody>
          <a:bodyPr wrap="square" lIns="0" tIns="0" rIns="0" bIns="0"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Les appels de l'utilisateur sont d'abord dirigés vers une plateforme Call Com, qui diffuse l'annonce à l'appelant puis met les deux personnes en relation.</a:t>
            </a:r>
            <a:endParaRPr lang="en-US" sz="1250" dirty="0"/>
          </a:p>
        </p:txBody>
      </p:sp>
      <p:sp>
        <p:nvSpPr>
          <p:cNvPr id="24" name="Text 22"/>
          <p:cNvSpPr txBox="1"/>
          <p:nvPr/>
        </p:nvSpPr>
        <p:spPr>
          <a:xfrm>
            <a:off x="6446520" y="3977640"/>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Conformité au §6</a:t>
            </a:r>
            <a:endParaRPr lang="en-US" sz="1150" dirty="0"/>
          </a:p>
        </p:txBody>
      </p:sp>
      <p:sp>
        <p:nvSpPr>
          <p:cNvPr id="25" name="Text 23"/>
          <p:cNvSpPr txBox="1"/>
          <p:nvPr/>
        </p:nvSpPr>
        <p:spPr>
          <a:xfrm>
            <a:off x="8915400" y="3977640"/>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Bonne</a:t>
            </a:r>
            <a:endParaRPr lang="en-US" sz="1150" dirty="0"/>
          </a:p>
        </p:txBody>
      </p:sp>
      <p:sp>
        <p:nvSpPr>
          <p:cNvPr id="26" name="Text 24"/>
          <p:cNvSpPr txBox="1"/>
          <p:nvPr/>
        </p:nvSpPr>
        <p:spPr>
          <a:xfrm>
            <a:off x="6446520" y="4398264"/>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Qualité d'appel</a:t>
            </a:r>
            <a:endParaRPr lang="en-US" sz="1150" dirty="0"/>
          </a:p>
        </p:txBody>
      </p:sp>
      <p:sp>
        <p:nvSpPr>
          <p:cNvPr id="27" name="Text 25"/>
          <p:cNvSpPr txBox="1"/>
          <p:nvPr/>
        </p:nvSpPr>
        <p:spPr>
          <a:xfrm>
            <a:off x="8915400" y="4398264"/>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À vérifier</a:t>
            </a:r>
            <a:endParaRPr lang="en-US" sz="1150" dirty="0"/>
          </a:p>
        </p:txBody>
      </p:sp>
      <p:sp>
        <p:nvSpPr>
          <p:cNvPr id="28" name="Text 26"/>
          <p:cNvSpPr txBox="1"/>
          <p:nvPr/>
        </p:nvSpPr>
        <p:spPr>
          <a:xfrm>
            <a:off x="6446520" y="4818888"/>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Délai réaliste</a:t>
            </a:r>
            <a:endParaRPr lang="en-US" sz="1150" dirty="0"/>
          </a:p>
        </p:txBody>
      </p:sp>
      <p:sp>
        <p:nvSpPr>
          <p:cNvPr id="29" name="Text 27"/>
          <p:cNvSpPr txBox="1"/>
          <p:nvPr/>
        </p:nvSpPr>
        <p:spPr>
          <a:xfrm>
            <a:off x="8915400" y="4818888"/>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3 à 5 mois</a:t>
            </a:r>
            <a:endParaRPr lang="en-US" sz="1150" dirty="0"/>
          </a:p>
        </p:txBody>
      </p:sp>
      <p:sp>
        <p:nvSpPr>
          <p:cNvPr id="30" name="Text 28"/>
          <p:cNvSpPr txBox="1"/>
          <p:nvPr/>
        </p:nvSpPr>
        <p:spPr>
          <a:xfrm>
            <a:off x="6446520" y="5239512"/>
            <a:ext cx="2377440" cy="329184"/>
          </a:xfrm>
          <a:prstGeom prst="rect">
            <a:avLst/>
          </a:prstGeom>
          <a:noFill/>
          <a:ln/>
        </p:spPr>
        <p:txBody>
          <a:bodyPr wrap="square" lIns="0" tIns="0" rIns="0" bIns="0" rtlCol="0" anchor="ctr"/>
          <a:lstStyle/>
          <a:p>
            <a:pPr indent="0" marL="0">
              <a:buNone/>
            </a:pPr>
            <a:r>
              <a:rPr lang="en-US" sz="1150" dirty="0">
                <a:solidFill>
                  <a:srgbClr val="5A6480"/>
                </a:solidFill>
                <a:latin typeface="Calibri" pitchFamily="34" charset="0"/>
                <a:ea typeface="Calibri" pitchFamily="34" charset="-122"/>
                <a:cs typeface="Calibri" pitchFamily="34" charset="-120"/>
              </a:rPr>
              <a:t>Maîtrise</a:t>
            </a:r>
            <a:endParaRPr lang="en-US" sz="1150" dirty="0"/>
          </a:p>
        </p:txBody>
      </p:sp>
      <p:sp>
        <p:nvSpPr>
          <p:cNvPr id="31" name="Text 29"/>
          <p:cNvSpPr txBox="1"/>
          <p:nvPr/>
        </p:nvSpPr>
        <p:spPr>
          <a:xfrm>
            <a:off x="8915400" y="5239512"/>
            <a:ext cx="2331720" cy="329184"/>
          </a:xfrm>
          <a:prstGeom prst="rect">
            <a:avLst/>
          </a:prstGeom>
          <a:noFill/>
          <a:ln/>
        </p:spPr>
        <p:txBody>
          <a:bodyPr wrap="square" lIns="0" tIns="0" rIns="0" bIns="0" rtlCol="0" anchor="ctr"/>
          <a:lstStyle/>
          <a:p>
            <a:pPr indent="0" marL="0">
              <a:buNone/>
            </a:pPr>
            <a:r>
              <a:rPr lang="en-US" sz="1150" b="1" dirty="0">
                <a:solidFill>
                  <a:srgbClr val="1A1F36"/>
                </a:solidFill>
                <a:latin typeface="Calibri" pitchFamily="34" charset="0"/>
                <a:ea typeface="Calibri" pitchFamily="34" charset="-122"/>
                <a:cs typeface="Calibri" pitchFamily="34" charset="-120"/>
              </a:rPr>
              <a:t>Complète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Voie A — ce qu'il faut demander à l'opérateur</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Il n'existe pas de service en libre-service : c'est un partenariat commercial</a:t>
            </a:r>
            <a:endParaRPr lang="en-US" sz="1500" dirty="0"/>
          </a:p>
        </p:txBody>
      </p:sp>
      <p:sp>
        <p:nvSpPr>
          <p:cNvPr id="4" name="Text 2"/>
          <p:cNvSpPr txBox="1"/>
          <p:nvPr/>
        </p:nvSpPr>
        <p:spPr>
          <a:xfrm>
            <a:off x="640080" y="1645920"/>
            <a:ext cx="512064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Ce que l'opérateur possède déjà</a:t>
            </a:r>
            <a:endParaRPr lang="en-US" sz="1500" dirty="0"/>
          </a:p>
        </p:txBody>
      </p:sp>
      <p:sp>
        <p:nvSpPr>
          <p:cNvPr id="5" name="Text 3"/>
          <p:cNvSpPr txBox="1"/>
          <p:nvPr/>
        </p:nvSpPr>
        <p:spPr>
          <a:xfrm>
            <a:off x="640080" y="2011680"/>
            <a:ext cx="5120640" cy="1554480"/>
          </a:xfrm>
          <a:prstGeom prst="rect">
            <a:avLst/>
          </a:prstGeom>
          <a:noFill/>
          <a:ln/>
        </p:spPr>
        <p:txBody>
          <a:bodyPr wrap="square" lIns="0" tIns="0" rIns="0" bIns="0" rtlCol="0" anchor="ctr"/>
          <a:lstStyle/>
          <a:p>
            <a:pPr indent="0" marL="0">
              <a:lnSpc>
                <a:spcPts val="1700"/>
              </a:lnSpc>
              <a:buNone/>
            </a:pPr>
            <a:r>
              <a:rPr lang="en-US" sz="1250" dirty="0">
                <a:solidFill>
                  <a:srgbClr val="1A1F36"/>
                </a:solidFill>
                <a:latin typeface="Calibri" pitchFamily="34" charset="0"/>
                <a:ea typeface="Calibri" pitchFamily="34" charset="-122"/>
                <a:cs typeface="Calibri" pitchFamily="34" charset="-120"/>
              </a:rPr>
              <a:t>Les opérateurs exploitent généralement déjà une plateforme de tonalités personnalisées, fournie par un éditeur spécialisé. C'est cette plateforme qui remplace la sonnerie par un contenu choisi. Call Com n'aurait donc rien à inventer techniquement — il faut être autorisé à y diffuser de la publicité.</a:t>
            </a:r>
            <a:endParaRPr lang="en-US" sz="1250" dirty="0"/>
          </a:p>
        </p:txBody>
      </p:sp>
      <p:sp>
        <p:nvSpPr>
          <p:cNvPr id="6" name="Shape 4"/>
          <p:cNvSpPr/>
          <p:nvPr/>
        </p:nvSpPr>
        <p:spPr>
          <a:xfrm>
            <a:off x="640080" y="3703320"/>
            <a:ext cx="5120640" cy="1874520"/>
          </a:xfrm>
          <a:prstGeom prst="roundRect">
            <a:avLst>
              <a:gd name="adj" fmla="val 2927"/>
            </a:avLst>
          </a:prstGeom>
          <a:solidFill>
            <a:srgbClr val="FBF4E4"/>
          </a:solidFill>
          <a:ln w="12700">
            <a:solidFill>
              <a:srgbClr val="B8860B"/>
            </a:solidFill>
            <a:prstDash val="solid"/>
          </a:ln>
        </p:spPr>
      </p:sp>
      <p:sp>
        <p:nvSpPr>
          <p:cNvPr id="7" name="Text 5"/>
          <p:cNvSpPr txBox="1"/>
          <p:nvPr/>
        </p:nvSpPr>
        <p:spPr>
          <a:xfrm>
            <a:off x="914400" y="3886200"/>
            <a:ext cx="4572000" cy="320040"/>
          </a:xfrm>
          <a:prstGeom prst="rect">
            <a:avLst/>
          </a:prstGeom>
          <a:noFill/>
          <a:ln/>
        </p:spPr>
        <p:txBody>
          <a:bodyPr wrap="square" lIns="0" tIns="0" rIns="0" bIns="0" rtlCol="0" anchor="ctr"/>
          <a:lstStyle/>
          <a:p>
            <a:pPr indent="0" marL="0">
              <a:buNone/>
            </a:pPr>
            <a:r>
              <a:rPr lang="en-US" sz="1350" b="1" dirty="0">
                <a:solidFill>
                  <a:srgbClr val="8A6508"/>
                </a:solidFill>
                <a:latin typeface="Calibri" pitchFamily="34" charset="0"/>
                <a:ea typeface="Calibri" pitchFamily="34" charset="-122"/>
                <a:cs typeface="Calibri" pitchFamily="34" charset="-120"/>
              </a:rPr>
              <a:t>Ce qu'il ne faut pas attendre</a:t>
            </a:r>
            <a:endParaRPr lang="en-US" sz="1350" dirty="0"/>
          </a:p>
        </p:txBody>
      </p:sp>
      <p:sp>
        <p:nvSpPr>
          <p:cNvPr id="8" name="Text 6"/>
          <p:cNvSpPr txBox="1"/>
          <p:nvPr/>
        </p:nvSpPr>
        <p:spPr>
          <a:xfrm>
            <a:off x="914400" y="4251960"/>
            <a:ext cx="4572000" cy="1188720"/>
          </a:xfrm>
          <a:prstGeom prst="rect">
            <a:avLst/>
          </a:prstGeom>
          <a:noFill/>
          <a:ln/>
        </p:spPr>
        <p:txBody>
          <a:bodyPr wrap="square" lIns="0" tIns="0" rIns="0" bIns="0" rtlCol="0" anchor="ctr"/>
          <a:lstStyle/>
          <a:p>
            <a:pPr indent="0" marL="0">
              <a:lnSpc>
                <a:spcPts val="1600"/>
              </a:lnSpc>
              <a:buNone/>
            </a:pPr>
            <a:r>
              <a:rPr lang="en-US" sz="1200" dirty="0">
                <a:solidFill>
                  <a:srgbClr val="1A1F36"/>
                </a:solidFill>
                <a:latin typeface="Calibri" pitchFamily="34" charset="0"/>
                <a:ea typeface="Calibri" pitchFamily="34" charset="-122"/>
                <a:cs typeface="Calibri" pitchFamily="34" charset="-120"/>
              </a:rPr>
              <a:t>Aucun opérateur ne publie d'interface technique ouverte pour cela. Les échanges se font le plus souvent par dépôts de fichiers quotidiens, pas en temps réel. Le système Call Com doit être conçu pour cela dès le départ.</a:t>
            </a:r>
            <a:endParaRPr lang="en-US" sz="1200" dirty="0"/>
          </a:p>
        </p:txBody>
      </p:sp>
      <p:sp>
        <p:nvSpPr>
          <p:cNvPr id="9" name="Text 7"/>
          <p:cNvSpPr txBox="1"/>
          <p:nvPr/>
        </p:nvSpPr>
        <p:spPr>
          <a:xfrm>
            <a:off x="6172200" y="1645920"/>
            <a:ext cx="534924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Le chemin, étape par étape</a:t>
            </a:r>
            <a:endParaRPr lang="en-US" sz="1500" dirty="0"/>
          </a:p>
        </p:txBody>
      </p:sp>
      <p:sp>
        <p:nvSpPr>
          <p:cNvPr id="10" name="Shape 8"/>
          <p:cNvSpPr/>
          <p:nvPr/>
        </p:nvSpPr>
        <p:spPr>
          <a:xfrm>
            <a:off x="6172200" y="2029968"/>
            <a:ext cx="347472" cy="347472"/>
          </a:xfrm>
          <a:prstGeom prst="ellipse">
            <a:avLst/>
          </a:prstGeom>
          <a:solidFill>
            <a:srgbClr val="1E2761"/>
          </a:solidFill>
          <a:ln/>
        </p:spPr>
      </p:sp>
      <p:sp>
        <p:nvSpPr>
          <p:cNvPr id="11" name="Text 9"/>
          <p:cNvSpPr txBox="1"/>
          <p:nvPr/>
        </p:nvSpPr>
        <p:spPr>
          <a:xfrm>
            <a:off x="6172200" y="20299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6675120" y="1984248"/>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1A1F36"/>
                </a:solidFill>
                <a:latin typeface="Calibri" pitchFamily="34" charset="0"/>
                <a:ea typeface="Calibri" pitchFamily="34" charset="-122"/>
                <a:cs typeface="Calibri" pitchFamily="34" charset="-120"/>
              </a:rPr>
              <a:t>Contacter la direction des services à valeur ajoutée de chaque opérateur — un sujet commercial, pas technique</a:t>
            </a:r>
            <a:endParaRPr lang="en-US" sz="1150" dirty="0"/>
          </a:p>
        </p:txBody>
      </p:sp>
      <p:sp>
        <p:nvSpPr>
          <p:cNvPr id="13" name="Shape 11"/>
          <p:cNvSpPr/>
          <p:nvPr/>
        </p:nvSpPr>
        <p:spPr>
          <a:xfrm>
            <a:off x="6172200" y="2651760"/>
            <a:ext cx="347472" cy="347472"/>
          </a:xfrm>
          <a:prstGeom prst="ellipse">
            <a:avLst/>
          </a:prstGeom>
          <a:solidFill>
            <a:srgbClr val="1E2761"/>
          </a:solidFill>
          <a:ln/>
        </p:spPr>
      </p:sp>
      <p:sp>
        <p:nvSpPr>
          <p:cNvPr id="14" name="Text 12"/>
          <p:cNvSpPr txBox="1"/>
          <p:nvPr/>
        </p:nvSpPr>
        <p:spPr>
          <a:xfrm>
            <a:off x="617220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675120" y="2606040"/>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1A1F36"/>
                </a:solidFill>
                <a:latin typeface="Calibri" pitchFamily="34" charset="0"/>
                <a:ea typeface="Calibri" pitchFamily="34" charset="-122"/>
                <a:cs typeface="Calibri" pitchFamily="34" charset="-120"/>
              </a:rPr>
              <a:t>Présenter le revenu nouveau apporté et la clé de partage proposée</a:t>
            </a:r>
            <a:endParaRPr lang="en-US" sz="1150" dirty="0"/>
          </a:p>
        </p:txBody>
      </p:sp>
      <p:sp>
        <p:nvSpPr>
          <p:cNvPr id="16" name="Shape 14"/>
          <p:cNvSpPr/>
          <p:nvPr/>
        </p:nvSpPr>
        <p:spPr>
          <a:xfrm>
            <a:off x="6172200" y="3273552"/>
            <a:ext cx="347472" cy="347472"/>
          </a:xfrm>
          <a:prstGeom prst="ellipse">
            <a:avLst/>
          </a:prstGeom>
          <a:solidFill>
            <a:srgbClr val="6F93C2"/>
          </a:solidFill>
          <a:ln/>
        </p:spPr>
      </p:sp>
      <p:sp>
        <p:nvSpPr>
          <p:cNvPr id="17" name="Text 15"/>
          <p:cNvSpPr txBox="1"/>
          <p:nvPr/>
        </p:nvSpPr>
        <p:spPr>
          <a:xfrm>
            <a:off x="6172200" y="327355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675120" y="3227832"/>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1A1F36"/>
                </a:solidFill>
                <a:latin typeface="Calibri" pitchFamily="34" charset="0"/>
                <a:ea typeface="Calibri" pitchFamily="34" charset="-122"/>
                <a:cs typeface="Calibri" pitchFamily="34" charset="-120"/>
              </a:rPr>
              <a:t>Accord de principe, puis mise en relation avec l'éditeur de la plateforme</a:t>
            </a:r>
            <a:endParaRPr lang="en-US" sz="1150" dirty="0"/>
          </a:p>
        </p:txBody>
      </p:sp>
      <p:sp>
        <p:nvSpPr>
          <p:cNvPr id="19" name="Shape 17"/>
          <p:cNvSpPr/>
          <p:nvPr/>
        </p:nvSpPr>
        <p:spPr>
          <a:xfrm>
            <a:off x="6172200" y="3895344"/>
            <a:ext cx="347472" cy="347472"/>
          </a:xfrm>
          <a:prstGeom prst="ellipse">
            <a:avLst/>
          </a:prstGeom>
          <a:solidFill>
            <a:srgbClr val="6F93C2"/>
          </a:solidFill>
          <a:ln/>
        </p:spPr>
      </p:sp>
      <p:sp>
        <p:nvSpPr>
          <p:cNvPr id="20" name="Text 18"/>
          <p:cNvSpPr txBox="1"/>
          <p:nvPr/>
        </p:nvSpPr>
        <p:spPr>
          <a:xfrm>
            <a:off x="6172200" y="38953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675120" y="3849624"/>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1A1F36"/>
                </a:solidFill>
                <a:latin typeface="Calibri" pitchFamily="34" charset="0"/>
                <a:ea typeface="Calibri" pitchFamily="34" charset="-122"/>
                <a:cs typeface="Calibri" pitchFamily="34" charset="-120"/>
              </a:rPr>
              <a:t>Spécification des échanges : format des annonces, remontée des diffusions</a:t>
            </a:r>
            <a:endParaRPr lang="en-US" sz="1150" dirty="0"/>
          </a:p>
        </p:txBody>
      </p:sp>
      <p:sp>
        <p:nvSpPr>
          <p:cNvPr id="22" name="Shape 20"/>
          <p:cNvSpPr/>
          <p:nvPr/>
        </p:nvSpPr>
        <p:spPr>
          <a:xfrm>
            <a:off x="6172200" y="4517136"/>
            <a:ext cx="347472" cy="347472"/>
          </a:xfrm>
          <a:prstGeom prst="ellipse">
            <a:avLst/>
          </a:prstGeom>
          <a:solidFill>
            <a:srgbClr val="6F93C2"/>
          </a:solidFill>
          <a:ln/>
        </p:spPr>
      </p:sp>
      <p:sp>
        <p:nvSpPr>
          <p:cNvPr id="23" name="Text 21"/>
          <p:cNvSpPr txBox="1"/>
          <p:nvPr/>
        </p:nvSpPr>
        <p:spPr>
          <a:xfrm>
            <a:off x="6172200" y="45171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6675120" y="4471416"/>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1A1F36"/>
                </a:solidFill>
                <a:latin typeface="Calibri" pitchFamily="34" charset="0"/>
                <a:ea typeface="Calibri" pitchFamily="34" charset="-122"/>
                <a:cs typeface="Calibri" pitchFamily="34" charset="-120"/>
              </a:rPr>
              <a:t>Validation réglementaire, portée par l'opérateur car c'est son service</a:t>
            </a:r>
            <a:endParaRPr lang="en-US" sz="1150" dirty="0"/>
          </a:p>
        </p:txBody>
      </p:sp>
      <p:sp>
        <p:nvSpPr>
          <p:cNvPr id="25" name="Shape 23"/>
          <p:cNvSpPr/>
          <p:nvPr/>
        </p:nvSpPr>
        <p:spPr>
          <a:xfrm>
            <a:off x="6172200" y="5138928"/>
            <a:ext cx="347472" cy="347472"/>
          </a:xfrm>
          <a:prstGeom prst="ellipse">
            <a:avLst/>
          </a:prstGeom>
          <a:solidFill>
            <a:srgbClr val="6F93C2"/>
          </a:solidFill>
          <a:ln/>
        </p:spPr>
      </p:sp>
      <p:sp>
        <p:nvSpPr>
          <p:cNvPr id="26" name="Text 24"/>
          <p:cNvSpPr txBox="1"/>
          <p:nvPr/>
        </p:nvSpPr>
        <p:spPr>
          <a:xfrm>
            <a:off x="6172200" y="51389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6675120" y="5093208"/>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1A1F36"/>
                </a:solidFill>
                <a:latin typeface="Calibri" pitchFamily="34" charset="0"/>
                <a:ea typeface="Calibri" pitchFamily="34" charset="-122"/>
                <a:cs typeface="Calibri" pitchFamily="34" charset="-120"/>
              </a:rPr>
              <a:t>Pilote sur un périmètre restreint, puis généralisation</a:t>
            </a:r>
            <a:endParaRPr lang="en-US" sz="1150" dirty="0"/>
          </a:p>
        </p:txBody>
      </p:sp>
      <p:sp>
        <p:nvSpPr>
          <p:cNvPr id="28" name="Shape 26"/>
          <p:cNvSpPr/>
          <p:nvPr/>
        </p:nvSpPr>
        <p:spPr>
          <a:xfrm>
            <a:off x="6172200" y="5806440"/>
            <a:ext cx="5349240" cy="566928"/>
          </a:xfrm>
          <a:prstGeom prst="roundRect">
            <a:avLst>
              <a:gd name="adj" fmla="val 9677"/>
            </a:avLst>
          </a:prstGeom>
          <a:solidFill>
            <a:srgbClr val="E7EDF7"/>
          </a:solidFill>
          <a:ln/>
        </p:spPr>
      </p:sp>
      <p:sp>
        <p:nvSpPr>
          <p:cNvPr id="29" name="Text 27"/>
          <p:cNvSpPr txBox="1"/>
          <p:nvPr/>
        </p:nvSpPr>
        <p:spPr>
          <a:xfrm>
            <a:off x="6400800" y="5925312"/>
            <a:ext cx="4937760" cy="32918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Les deux premières étapes relèvent de Call Com, pas du prestataire technique.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Voie B — réalisable, mais trois points durs</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À trancher par un prototype avant tout développement</a:t>
            </a:r>
            <a:endParaRPr lang="en-US" sz="1500" dirty="0"/>
          </a:p>
        </p:txBody>
      </p:sp>
      <p:sp>
        <p:nvSpPr>
          <p:cNvPr id="4" name="Text 2"/>
          <p:cNvSpPr txBox="1"/>
          <p:nvPr/>
        </p:nvSpPr>
        <p:spPr>
          <a:xfrm>
            <a:off x="640080" y="1600200"/>
            <a:ext cx="1088136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Comment cela fonctionne</a:t>
            </a:r>
            <a:endParaRPr lang="en-US" sz="1500" dirty="0"/>
          </a:p>
        </p:txBody>
      </p:sp>
      <p:sp>
        <p:nvSpPr>
          <p:cNvPr id="5" name="Shape 3"/>
          <p:cNvSpPr/>
          <p:nvPr/>
        </p:nvSpPr>
        <p:spPr>
          <a:xfrm>
            <a:off x="640080" y="1993392"/>
            <a:ext cx="2514600" cy="868680"/>
          </a:xfrm>
          <a:prstGeom prst="roundRect">
            <a:avLst>
              <a:gd name="adj" fmla="val 6316"/>
            </a:avLst>
          </a:prstGeom>
          <a:solidFill>
            <a:srgbClr val="F2F5FA"/>
          </a:solidFill>
          <a:ln/>
        </p:spPr>
      </p:sp>
      <p:sp>
        <p:nvSpPr>
          <p:cNvPr id="6" name="Text 4"/>
          <p:cNvSpPr txBox="1"/>
          <p:nvPr/>
        </p:nvSpPr>
        <p:spPr>
          <a:xfrm>
            <a:off x="749808" y="2066544"/>
            <a:ext cx="2295144" cy="731520"/>
          </a:xfrm>
          <a:prstGeom prst="rect">
            <a:avLst/>
          </a:prstGeom>
          <a:noFill/>
          <a:ln/>
        </p:spPr>
        <p:txBody>
          <a:bodyPr wrap="square" lIns="0" tIns="0" rIns="0" bIns="0" rtlCol="0" anchor="ctr"/>
          <a:lstStyle/>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L'appel arrive</a:t>
            </a:r>
            <a:endParaRPr lang="en-US" sz="1150" dirty="0"/>
          </a:p>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sur la plateforme</a:t>
            </a:r>
            <a:endParaRPr lang="en-US" sz="1150" dirty="0"/>
          </a:p>
        </p:txBody>
      </p:sp>
      <p:sp>
        <p:nvSpPr>
          <p:cNvPr id="7" name="Shape 5"/>
          <p:cNvSpPr/>
          <p:nvPr/>
        </p:nvSpPr>
        <p:spPr>
          <a:xfrm>
            <a:off x="3218688" y="2340864"/>
            <a:ext cx="164592" cy="182880"/>
          </a:xfrm>
          <a:prstGeom prst="rightArrow">
            <a:avLst/>
          </a:prstGeom>
          <a:solidFill>
            <a:srgbClr val="AEBCD4"/>
          </a:solidFill>
          <a:ln/>
        </p:spPr>
      </p:sp>
      <p:sp>
        <p:nvSpPr>
          <p:cNvPr id="8" name="Shape 6"/>
          <p:cNvSpPr/>
          <p:nvPr/>
        </p:nvSpPr>
        <p:spPr>
          <a:xfrm>
            <a:off x="3429000" y="1993392"/>
            <a:ext cx="2514600" cy="868680"/>
          </a:xfrm>
          <a:prstGeom prst="roundRect">
            <a:avLst>
              <a:gd name="adj" fmla="val 6316"/>
            </a:avLst>
          </a:prstGeom>
          <a:solidFill>
            <a:srgbClr val="F2F5FA"/>
          </a:solidFill>
          <a:ln/>
        </p:spPr>
      </p:sp>
      <p:sp>
        <p:nvSpPr>
          <p:cNvPr id="9" name="Text 7"/>
          <p:cNvSpPr txBox="1"/>
          <p:nvPr/>
        </p:nvSpPr>
        <p:spPr>
          <a:xfrm>
            <a:off x="3538728" y="2066544"/>
            <a:ext cx="2295144" cy="731520"/>
          </a:xfrm>
          <a:prstGeom prst="rect">
            <a:avLst/>
          </a:prstGeom>
          <a:noFill/>
          <a:ln/>
        </p:spPr>
        <p:txBody>
          <a:bodyPr wrap="square" lIns="0" tIns="0" rIns="0" bIns="0" rtlCol="0" anchor="ctr"/>
          <a:lstStyle/>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La plateforme diffuse</a:t>
            </a:r>
            <a:endParaRPr lang="en-US" sz="1150" dirty="0"/>
          </a:p>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l'annonce à l'appelant</a:t>
            </a:r>
            <a:endParaRPr lang="en-US" sz="1150" dirty="0"/>
          </a:p>
        </p:txBody>
      </p:sp>
      <p:sp>
        <p:nvSpPr>
          <p:cNvPr id="10" name="Shape 8"/>
          <p:cNvSpPr/>
          <p:nvPr/>
        </p:nvSpPr>
        <p:spPr>
          <a:xfrm>
            <a:off x="6007608" y="2340864"/>
            <a:ext cx="164592" cy="182880"/>
          </a:xfrm>
          <a:prstGeom prst="rightArrow">
            <a:avLst/>
          </a:prstGeom>
          <a:solidFill>
            <a:srgbClr val="AEBCD4"/>
          </a:solidFill>
          <a:ln/>
        </p:spPr>
      </p:sp>
      <p:sp>
        <p:nvSpPr>
          <p:cNvPr id="11" name="Shape 9"/>
          <p:cNvSpPr/>
          <p:nvPr/>
        </p:nvSpPr>
        <p:spPr>
          <a:xfrm>
            <a:off x="6217920" y="1993392"/>
            <a:ext cx="2514600" cy="868680"/>
          </a:xfrm>
          <a:prstGeom prst="roundRect">
            <a:avLst>
              <a:gd name="adj" fmla="val 6316"/>
            </a:avLst>
          </a:prstGeom>
          <a:solidFill>
            <a:srgbClr val="F2F5FA"/>
          </a:solidFill>
          <a:ln/>
        </p:spPr>
      </p:sp>
      <p:sp>
        <p:nvSpPr>
          <p:cNvPr id="12" name="Text 10"/>
          <p:cNvSpPr txBox="1"/>
          <p:nvPr/>
        </p:nvSpPr>
        <p:spPr>
          <a:xfrm>
            <a:off x="6327648" y="2066544"/>
            <a:ext cx="2295144" cy="731520"/>
          </a:xfrm>
          <a:prstGeom prst="rect">
            <a:avLst/>
          </a:prstGeom>
          <a:noFill/>
          <a:ln/>
        </p:spPr>
        <p:txBody>
          <a:bodyPr wrap="square" lIns="0" tIns="0" rIns="0" bIns="0" rtlCol="0" anchor="ctr"/>
          <a:lstStyle/>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L'application sonne</a:t>
            </a:r>
            <a:endParaRPr lang="en-US" sz="1150" dirty="0"/>
          </a:p>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chez l'utilisateur</a:t>
            </a:r>
            <a:endParaRPr lang="en-US" sz="1150" dirty="0"/>
          </a:p>
        </p:txBody>
      </p:sp>
      <p:sp>
        <p:nvSpPr>
          <p:cNvPr id="13" name="Shape 11"/>
          <p:cNvSpPr/>
          <p:nvPr/>
        </p:nvSpPr>
        <p:spPr>
          <a:xfrm>
            <a:off x="8796528" y="2340864"/>
            <a:ext cx="164592" cy="182880"/>
          </a:xfrm>
          <a:prstGeom prst="rightArrow">
            <a:avLst/>
          </a:prstGeom>
          <a:solidFill>
            <a:srgbClr val="AEBCD4"/>
          </a:solidFill>
          <a:ln/>
        </p:spPr>
      </p:sp>
      <p:sp>
        <p:nvSpPr>
          <p:cNvPr id="14" name="Shape 12"/>
          <p:cNvSpPr/>
          <p:nvPr/>
        </p:nvSpPr>
        <p:spPr>
          <a:xfrm>
            <a:off x="9006840" y="1993392"/>
            <a:ext cx="2514600" cy="868680"/>
          </a:xfrm>
          <a:prstGeom prst="roundRect">
            <a:avLst>
              <a:gd name="adj" fmla="val 6316"/>
            </a:avLst>
          </a:prstGeom>
          <a:solidFill>
            <a:srgbClr val="F2F5FA"/>
          </a:solidFill>
          <a:ln/>
        </p:spPr>
      </p:sp>
      <p:sp>
        <p:nvSpPr>
          <p:cNvPr id="15" name="Text 13"/>
          <p:cNvSpPr txBox="1"/>
          <p:nvPr/>
        </p:nvSpPr>
        <p:spPr>
          <a:xfrm>
            <a:off x="9116568" y="2066544"/>
            <a:ext cx="2295144" cy="731520"/>
          </a:xfrm>
          <a:prstGeom prst="rect">
            <a:avLst/>
          </a:prstGeom>
          <a:noFill/>
          <a:ln/>
        </p:spPr>
        <p:txBody>
          <a:bodyPr wrap="square" lIns="0" tIns="0" rIns="0" bIns="0" rtlCol="0" anchor="ctr"/>
          <a:lstStyle/>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Il décroche : l'annonce</a:t>
            </a:r>
            <a:endParaRPr lang="en-US" sz="1150" dirty="0"/>
          </a:p>
          <a:p>
            <a:pPr algn="ctr" indent="0" marL="0">
              <a:lnSpc>
                <a:spcPts val="1500"/>
              </a:lnSpc>
              <a:buNone/>
            </a:pPr>
            <a:r>
              <a:rPr lang="en-US" sz="1150" dirty="0">
                <a:solidFill>
                  <a:srgbClr val="1A1F36"/>
                </a:solidFill>
                <a:latin typeface="Calibri" pitchFamily="34" charset="0"/>
                <a:ea typeface="Calibri" pitchFamily="34" charset="-122"/>
                <a:cs typeface="Calibri" pitchFamily="34" charset="-120"/>
              </a:rPr>
              <a:t>s'arrête, mise en relation</a:t>
            </a:r>
            <a:endParaRPr lang="en-US" sz="1150" dirty="0"/>
          </a:p>
        </p:txBody>
      </p:sp>
      <p:sp>
        <p:nvSpPr>
          <p:cNvPr id="16" name="Text 14"/>
          <p:cNvSpPr txBox="1"/>
          <p:nvPr/>
        </p:nvSpPr>
        <p:spPr>
          <a:xfrm>
            <a:off x="640080" y="3063240"/>
            <a:ext cx="10881360" cy="320040"/>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Les trois points à lever</a:t>
            </a:r>
            <a:endParaRPr lang="en-US" sz="1500" dirty="0"/>
          </a:p>
        </p:txBody>
      </p:sp>
      <p:sp>
        <p:nvSpPr>
          <p:cNvPr id="17" name="Shape 15"/>
          <p:cNvSpPr/>
          <p:nvPr/>
        </p:nvSpPr>
        <p:spPr>
          <a:xfrm>
            <a:off x="640080" y="3456432"/>
            <a:ext cx="3383280" cy="2148840"/>
          </a:xfrm>
          <a:prstGeom prst="roundRect">
            <a:avLst>
              <a:gd name="adj" fmla="val 2553"/>
            </a:avLst>
          </a:prstGeom>
          <a:solidFill>
            <a:srgbClr val="FBEEEC"/>
          </a:solidFill>
          <a:ln/>
        </p:spPr>
      </p:sp>
      <p:sp>
        <p:nvSpPr>
          <p:cNvPr id="18" name="Shape 16"/>
          <p:cNvSpPr/>
          <p:nvPr/>
        </p:nvSpPr>
        <p:spPr>
          <a:xfrm>
            <a:off x="868680" y="3639312"/>
            <a:ext cx="365760" cy="365760"/>
          </a:xfrm>
          <a:prstGeom prst="ellipse">
            <a:avLst/>
          </a:prstGeom>
          <a:solidFill>
            <a:srgbClr val="C0392B"/>
          </a:solidFill>
          <a:ln/>
        </p:spPr>
      </p:sp>
      <p:sp>
        <p:nvSpPr>
          <p:cNvPr id="19" name="Text 17"/>
          <p:cNvSpPr txBox="1"/>
          <p:nvPr/>
        </p:nvSpPr>
        <p:spPr>
          <a:xfrm>
            <a:off x="868680"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8"/>
          <p:cNvSpPr txBox="1"/>
          <p:nvPr/>
        </p:nvSpPr>
        <p:spPr>
          <a:xfrm>
            <a:off x="868680" y="4114800"/>
            <a:ext cx="2926080" cy="658368"/>
          </a:xfrm>
          <a:prstGeom prst="rect">
            <a:avLst/>
          </a:prstGeom>
          <a:noFill/>
          <a:ln/>
        </p:spPr>
        <p:txBody>
          <a:bodyPr wrap="square" lIns="0" tIns="0" rIns="0" bIns="0"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Sans Internet, l'utilisateur ne reçoit plus ses appels</a:t>
            </a:r>
            <a:endParaRPr lang="en-US" sz="1250" dirty="0"/>
          </a:p>
        </p:txBody>
      </p:sp>
      <p:sp>
        <p:nvSpPr>
          <p:cNvPr id="21" name="Text 19"/>
          <p:cNvSpPr txBox="1"/>
          <p:nvPr/>
        </p:nvSpPr>
        <p:spPr>
          <a:xfrm>
            <a:off x="868680" y="4700016"/>
            <a:ext cx="2926080" cy="868680"/>
          </a:xfrm>
          <a:prstGeom prst="rect">
            <a:avLst/>
          </a:prstGeom>
          <a:noFill/>
          <a:ln/>
        </p:spPr>
        <p:txBody>
          <a:bodyPr wrap="square" lIns="0" tIns="0" rIns="0" bIns="0" rtlCol="0" anchor="ctr"/>
          <a:lstStyle/>
          <a:p>
            <a:pPr indent="0" marL="0">
              <a:lnSpc>
                <a:spcPts val="1300"/>
              </a:lnSpc>
              <a:buNone/>
            </a:pPr>
            <a:r>
              <a:rPr lang="en-US" sz="1000" dirty="0">
                <a:solidFill>
                  <a:srgbClr val="6A5148"/>
                </a:solidFill>
                <a:latin typeface="Calibri" pitchFamily="34" charset="0"/>
                <a:ea typeface="Calibri" pitchFamily="34" charset="-122"/>
                <a:cs typeface="Calibri" pitchFamily="34" charset="-120"/>
              </a:rPr>
              <a:t>C'est le risque le plus grave. Un utilisateur qui rate des appels désinstalle immédiatement et le dit autour de lui. Aucune solution de contournement n'est pleinement satisfaisante à ce jour.</a:t>
            </a:r>
            <a:endParaRPr lang="en-US" sz="1000" dirty="0"/>
          </a:p>
        </p:txBody>
      </p:sp>
      <p:sp>
        <p:nvSpPr>
          <p:cNvPr id="22" name="Shape 20"/>
          <p:cNvSpPr/>
          <p:nvPr/>
        </p:nvSpPr>
        <p:spPr>
          <a:xfrm>
            <a:off x="4297680" y="3456432"/>
            <a:ext cx="3383280" cy="2148840"/>
          </a:xfrm>
          <a:prstGeom prst="roundRect">
            <a:avLst>
              <a:gd name="adj" fmla="val 2553"/>
            </a:avLst>
          </a:prstGeom>
          <a:solidFill>
            <a:srgbClr val="FBEEEC"/>
          </a:solidFill>
          <a:ln/>
        </p:spPr>
      </p:sp>
      <p:sp>
        <p:nvSpPr>
          <p:cNvPr id="23" name="Shape 21"/>
          <p:cNvSpPr/>
          <p:nvPr/>
        </p:nvSpPr>
        <p:spPr>
          <a:xfrm>
            <a:off x="4526280" y="3639312"/>
            <a:ext cx="365760" cy="365760"/>
          </a:xfrm>
          <a:prstGeom prst="ellipse">
            <a:avLst/>
          </a:prstGeom>
          <a:solidFill>
            <a:srgbClr val="C0392B"/>
          </a:solidFill>
          <a:ln/>
        </p:spPr>
      </p:sp>
      <p:sp>
        <p:nvSpPr>
          <p:cNvPr id="24" name="Text 22"/>
          <p:cNvSpPr txBox="1"/>
          <p:nvPr/>
        </p:nvSpPr>
        <p:spPr>
          <a:xfrm>
            <a:off x="4526280"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3"/>
          <p:cNvSpPr txBox="1"/>
          <p:nvPr/>
        </p:nvSpPr>
        <p:spPr>
          <a:xfrm>
            <a:off x="4526280" y="4114800"/>
            <a:ext cx="2926080" cy="658368"/>
          </a:xfrm>
          <a:prstGeom prst="rect">
            <a:avLst/>
          </a:prstGeom>
          <a:noFill/>
          <a:ln/>
        </p:spPr>
        <p:txBody>
          <a:bodyPr wrap="square" lIns="0" tIns="0" rIns="0" bIns="0"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Les conversations passeraient par Internet</a:t>
            </a:r>
            <a:endParaRPr lang="en-US" sz="1250" dirty="0"/>
          </a:p>
        </p:txBody>
      </p:sp>
      <p:sp>
        <p:nvSpPr>
          <p:cNvPr id="26" name="Text 24"/>
          <p:cNvSpPr txBox="1"/>
          <p:nvPr/>
        </p:nvSpPr>
        <p:spPr>
          <a:xfrm>
            <a:off x="4526280" y="4700016"/>
            <a:ext cx="2926080" cy="868680"/>
          </a:xfrm>
          <a:prstGeom prst="rect">
            <a:avLst/>
          </a:prstGeom>
          <a:noFill/>
          <a:ln/>
        </p:spPr>
        <p:txBody>
          <a:bodyPr wrap="square" lIns="0" tIns="0" rIns="0" bIns="0" rtlCol="0" anchor="ctr"/>
          <a:lstStyle/>
          <a:p>
            <a:pPr indent="0" marL="0">
              <a:lnSpc>
                <a:spcPts val="1300"/>
              </a:lnSpc>
              <a:buNone/>
            </a:pPr>
            <a:r>
              <a:rPr lang="en-US" sz="1000" dirty="0">
                <a:solidFill>
                  <a:srgbClr val="6A5148"/>
                </a:solidFill>
                <a:latin typeface="Calibri" pitchFamily="34" charset="0"/>
                <a:ea typeface="Calibri" pitchFamily="34" charset="-122"/>
                <a:cs typeface="Calibri" pitchFamily="34" charset="-120"/>
              </a:rPr>
              <a:t>La qualité dépendrait de la couverture data de l'utilisateur. Une dégradation serait attribuée à Call Com — ce qui heurte le principe de « non-perturbation » du §22.</a:t>
            </a:r>
            <a:endParaRPr lang="en-US" sz="1000" dirty="0"/>
          </a:p>
        </p:txBody>
      </p:sp>
      <p:sp>
        <p:nvSpPr>
          <p:cNvPr id="27" name="Shape 25"/>
          <p:cNvSpPr/>
          <p:nvPr/>
        </p:nvSpPr>
        <p:spPr>
          <a:xfrm>
            <a:off x="7955280" y="3456432"/>
            <a:ext cx="3383280" cy="2148840"/>
          </a:xfrm>
          <a:prstGeom prst="roundRect">
            <a:avLst>
              <a:gd name="adj" fmla="val 2553"/>
            </a:avLst>
          </a:prstGeom>
          <a:solidFill>
            <a:srgbClr val="FBEEEC"/>
          </a:solidFill>
          <a:ln/>
        </p:spPr>
      </p:sp>
      <p:sp>
        <p:nvSpPr>
          <p:cNvPr id="28" name="Shape 26"/>
          <p:cNvSpPr/>
          <p:nvPr/>
        </p:nvSpPr>
        <p:spPr>
          <a:xfrm>
            <a:off x="8183880" y="3639312"/>
            <a:ext cx="365760" cy="365760"/>
          </a:xfrm>
          <a:prstGeom prst="ellipse">
            <a:avLst/>
          </a:prstGeom>
          <a:solidFill>
            <a:srgbClr val="C0392B"/>
          </a:solidFill>
          <a:ln/>
        </p:spPr>
      </p:sp>
      <p:sp>
        <p:nvSpPr>
          <p:cNvPr id="29" name="Text 27"/>
          <p:cNvSpPr txBox="1"/>
          <p:nvPr/>
        </p:nvSpPr>
        <p:spPr>
          <a:xfrm>
            <a:off x="8183880"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8"/>
          <p:cNvSpPr txBox="1"/>
          <p:nvPr/>
        </p:nvSpPr>
        <p:spPr>
          <a:xfrm>
            <a:off x="8183880" y="4114800"/>
            <a:ext cx="2926080" cy="658368"/>
          </a:xfrm>
          <a:prstGeom prst="rect">
            <a:avLst/>
          </a:prstGeom>
          <a:noFill/>
          <a:ln/>
        </p:spPr>
        <p:txBody>
          <a:bodyPr wrap="square" lIns="0" tIns="0" rIns="0" bIns="0" rtlCol="0" anchor="ctr"/>
          <a:lstStyle/>
          <a:p>
            <a:pPr indent="0" marL="0">
              <a:lnSpc>
                <a:spcPts val="1600"/>
              </a:lnSpc>
              <a:buNone/>
            </a:pPr>
            <a:r>
              <a:rPr lang="en-US" sz="1250" b="1" dirty="0">
                <a:solidFill>
                  <a:srgbClr val="1A1F36"/>
                </a:solidFill>
                <a:latin typeface="Calibri" pitchFamily="34" charset="0"/>
                <a:ea typeface="Calibri" pitchFamily="34" charset="-122"/>
                <a:cs typeface="Calibri" pitchFamily="34" charset="-120"/>
              </a:rPr>
              <a:t>Qui paie le réacheminement ?</a:t>
            </a:r>
            <a:endParaRPr lang="en-US" sz="1250" dirty="0"/>
          </a:p>
        </p:txBody>
      </p:sp>
      <p:sp>
        <p:nvSpPr>
          <p:cNvPr id="31" name="Text 29"/>
          <p:cNvSpPr txBox="1"/>
          <p:nvPr/>
        </p:nvSpPr>
        <p:spPr>
          <a:xfrm>
            <a:off x="8183880" y="4700016"/>
            <a:ext cx="2926080" cy="868680"/>
          </a:xfrm>
          <a:prstGeom prst="rect">
            <a:avLst/>
          </a:prstGeom>
          <a:noFill/>
          <a:ln/>
        </p:spPr>
        <p:txBody>
          <a:bodyPr wrap="square" lIns="0" tIns="0" rIns="0" bIns="0" rtlCol="0" anchor="ctr"/>
          <a:lstStyle/>
          <a:p>
            <a:pPr indent="0" marL="0">
              <a:lnSpc>
                <a:spcPts val="1300"/>
              </a:lnSpc>
              <a:buNone/>
            </a:pPr>
            <a:r>
              <a:rPr lang="en-US" sz="1000" dirty="0">
                <a:solidFill>
                  <a:srgbClr val="6A5148"/>
                </a:solidFill>
                <a:latin typeface="Calibri" pitchFamily="34" charset="0"/>
                <a:ea typeface="Calibri" pitchFamily="34" charset="-122"/>
                <a:cs typeface="Calibri" pitchFamily="34" charset="-120"/>
              </a:rPr>
              <a:t>Selon les usages du marché, ce coût est souvent supporté par l'abonné qui met en place le renvoi. Inacceptable s'il pèse sur l'utilisateur : à négocier avec les opérateurs.</a:t>
            </a:r>
            <a:endParaRPr lang="en-US" sz="1000" dirty="0"/>
          </a:p>
        </p:txBody>
      </p:sp>
      <p:sp>
        <p:nvSpPr>
          <p:cNvPr id="32" name="Text 30"/>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50" b="1" dirty="0">
                <a:solidFill>
                  <a:srgbClr val="1F7A5C"/>
                </a:solidFill>
                <a:latin typeface="Calibri" pitchFamily="34" charset="0"/>
                <a:ea typeface="Calibri" pitchFamily="34" charset="-122"/>
                <a:cs typeface="Calibri" pitchFamily="34" charset="-120"/>
              </a:rPr>
              <a:t>Bonne nouvelle : cette voie fonctionne aussi bien sur iPhone que sur Android, et la mesure des diffusions y est exacte et infalsifiable.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Comparaison des deux voies</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Lecture par caractéristiques, sans préférence a priori</a:t>
            </a:r>
            <a:endParaRPr lang="en-US" sz="1500" dirty="0"/>
          </a:p>
        </p:txBody>
      </p:sp>
      <p:sp>
        <p:nvSpPr>
          <p:cNvPr id="4" name="Shape 2"/>
          <p:cNvSpPr/>
          <p:nvPr/>
        </p:nvSpPr>
        <p:spPr>
          <a:xfrm>
            <a:off x="640080" y="1600200"/>
            <a:ext cx="10881360" cy="324612"/>
          </a:xfrm>
          <a:prstGeom prst="rect">
            <a:avLst/>
          </a:prstGeom>
          <a:solidFill>
            <a:srgbClr val="1E2761"/>
          </a:solidFill>
          <a:ln/>
        </p:spPr>
      </p:sp>
      <p:sp>
        <p:nvSpPr>
          <p:cNvPr id="5" name="Text 3"/>
          <p:cNvSpPr txBox="1"/>
          <p:nvPr/>
        </p:nvSpPr>
        <p:spPr>
          <a:xfrm>
            <a:off x="768096" y="1600200"/>
            <a:ext cx="3895344" cy="3246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Critère</a:t>
            </a:r>
            <a:endParaRPr lang="en-US" sz="1100" dirty="0"/>
          </a:p>
        </p:txBody>
      </p:sp>
      <p:sp>
        <p:nvSpPr>
          <p:cNvPr id="6" name="Text 4"/>
          <p:cNvSpPr txBox="1"/>
          <p:nvPr/>
        </p:nvSpPr>
        <p:spPr>
          <a:xfrm>
            <a:off x="4882896" y="1600200"/>
            <a:ext cx="2889504" cy="3246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Voie A — Opérateur</a:t>
            </a:r>
            <a:endParaRPr lang="en-US" sz="1100" dirty="0"/>
          </a:p>
        </p:txBody>
      </p:sp>
      <p:sp>
        <p:nvSpPr>
          <p:cNvPr id="7" name="Text 5"/>
          <p:cNvSpPr txBox="1"/>
          <p:nvPr/>
        </p:nvSpPr>
        <p:spPr>
          <a:xfrm>
            <a:off x="7991856" y="1600200"/>
            <a:ext cx="3438144" cy="3246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Voie B — Plateforme Call Com</a:t>
            </a:r>
            <a:endParaRPr lang="en-US" sz="1100" dirty="0"/>
          </a:p>
        </p:txBody>
      </p:sp>
      <p:sp>
        <p:nvSpPr>
          <p:cNvPr id="8" name="Text 6"/>
          <p:cNvSpPr txBox="1"/>
          <p:nvPr/>
        </p:nvSpPr>
        <p:spPr>
          <a:xfrm>
            <a:off x="768096" y="1924812"/>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Conformité au scénario du §6</a:t>
            </a:r>
            <a:endParaRPr lang="en-US" sz="1100" dirty="0"/>
          </a:p>
        </p:txBody>
      </p:sp>
      <p:sp>
        <p:nvSpPr>
          <p:cNvPr id="9" name="Text 7"/>
          <p:cNvSpPr txBox="1"/>
          <p:nvPr/>
        </p:nvSpPr>
        <p:spPr>
          <a:xfrm>
            <a:off x="4882896" y="1924812"/>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Totale</a:t>
            </a:r>
            <a:endParaRPr lang="en-US" sz="1100" dirty="0"/>
          </a:p>
        </p:txBody>
      </p:sp>
      <p:sp>
        <p:nvSpPr>
          <p:cNvPr id="10" name="Text 8"/>
          <p:cNvSpPr txBox="1"/>
          <p:nvPr/>
        </p:nvSpPr>
        <p:spPr>
          <a:xfrm>
            <a:off x="7991856" y="1924812"/>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Bonne — annonce avant la sonnerie</a:t>
            </a:r>
            <a:endParaRPr lang="en-US" sz="1100" dirty="0"/>
          </a:p>
        </p:txBody>
      </p:sp>
      <p:sp>
        <p:nvSpPr>
          <p:cNvPr id="11" name="Shape 9"/>
          <p:cNvSpPr/>
          <p:nvPr/>
        </p:nvSpPr>
        <p:spPr>
          <a:xfrm>
            <a:off x="640080" y="2249424"/>
            <a:ext cx="10881360" cy="324612"/>
          </a:xfrm>
          <a:prstGeom prst="rect">
            <a:avLst/>
          </a:prstGeom>
          <a:solidFill>
            <a:srgbClr val="F2F5FA"/>
          </a:solidFill>
          <a:ln/>
        </p:spPr>
      </p:sp>
      <p:sp>
        <p:nvSpPr>
          <p:cNvPr id="12" name="Text 10"/>
          <p:cNvSpPr txBox="1"/>
          <p:nvPr/>
        </p:nvSpPr>
        <p:spPr>
          <a:xfrm>
            <a:off x="768096" y="2249424"/>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L'appelant a besoin de l'application</a:t>
            </a:r>
            <a:endParaRPr lang="en-US" sz="1100" dirty="0"/>
          </a:p>
        </p:txBody>
      </p:sp>
      <p:sp>
        <p:nvSpPr>
          <p:cNvPr id="13" name="Text 11"/>
          <p:cNvSpPr txBox="1"/>
          <p:nvPr/>
        </p:nvSpPr>
        <p:spPr>
          <a:xfrm>
            <a:off x="4882896" y="2249424"/>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Non</a:t>
            </a:r>
            <a:endParaRPr lang="en-US" sz="1100" dirty="0"/>
          </a:p>
        </p:txBody>
      </p:sp>
      <p:sp>
        <p:nvSpPr>
          <p:cNvPr id="14" name="Text 12"/>
          <p:cNvSpPr txBox="1"/>
          <p:nvPr/>
        </p:nvSpPr>
        <p:spPr>
          <a:xfrm>
            <a:off x="7991856" y="2249424"/>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Non</a:t>
            </a:r>
            <a:endParaRPr lang="en-US" sz="1100" dirty="0"/>
          </a:p>
        </p:txBody>
      </p:sp>
      <p:sp>
        <p:nvSpPr>
          <p:cNvPr id="15" name="Text 13"/>
          <p:cNvSpPr txBox="1"/>
          <p:nvPr/>
        </p:nvSpPr>
        <p:spPr>
          <a:xfrm>
            <a:off x="768096" y="2574036"/>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Fonctionne sur Android</a:t>
            </a:r>
            <a:endParaRPr lang="en-US" sz="1100" dirty="0"/>
          </a:p>
        </p:txBody>
      </p:sp>
      <p:sp>
        <p:nvSpPr>
          <p:cNvPr id="16" name="Text 14"/>
          <p:cNvSpPr txBox="1"/>
          <p:nvPr/>
        </p:nvSpPr>
        <p:spPr>
          <a:xfrm>
            <a:off x="4882896" y="2574036"/>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Oui</a:t>
            </a:r>
            <a:endParaRPr lang="en-US" sz="1100" dirty="0"/>
          </a:p>
        </p:txBody>
      </p:sp>
      <p:sp>
        <p:nvSpPr>
          <p:cNvPr id="17" name="Text 15"/>
          <p:cNvSpPr txBox="1"/>
          <p:nvPr/>
        </p:nvSpPr>
        <p:spPr>
          <a:xfrm>
            <a:off x="7991856" y="2574036"/>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Oui</a:t>
            </a:r>
            <a:endParaRPr lang="en-US" sz="1100" dirty="0"/>
          </a:p>
        </p:txBody>
      </p:sp>
      <p:sp>
        <p:nvSpPr>
          <p:cNvPr id="18" name="Shape 16"/>
          <p:cNvSpPr/>
          <p:nvPr/>
        </p:nvSpPr>
        <p:spPr>
          <a:xfrm>
            <a:off x="640080" y="2898648"/>
            <a:ext cx="10881360" cy="324612"/>
          </a:xfrm>
          <a:prstGeom prst="rect">
            <a:avLst/>
          </a:prstGeom>
          <a:solidFill>
            <a:srgbClr val="F2F5FA"/>
          </a:solidFill>
          <a:ln/>
        </p:spPr>
      </p:sp>
      <p:sp>
        <p:nvSpPr>
          <p:cNvPr id="19" name="Text 17"/>
          <p:cNvSpPr txBox="1"/>
          <p:nvPr/>
        </p:nvSpPr>
        <p:spPr>
          <a:xfrm>
            <a:off x="768096" y="2898648"/>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Fonctionne sur iPhone</a:t>
            </a:r>
            <a:endParaRPr lang="en-US" sz="1100" dirty="0"/>
          </a:p>
        </p:txBody>
      </p:sp>
      <p:sp>
        <p:nvSpPr>
          <p:cNvPr id="20" name="Text 18"/>
          <p:cNvSpPr txBox="1"/>
          <p:nvPr/>
        </p:nvSpPr>
        <p:spPr>
          <a:xfrm>
            <a:off x="4882896" y="2898648"/>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Oui</a:t>
            </a:r>
            <a:endParaRPr lang="en-US" sz="1100" dirty="0"/>
          </a:p>
        </p:txBody>
      </p:sp>
      <p:sp>
        <p:nvSpPr>
          <p:cNvPr id="21" name="Text 19"/>
          <p:cNvSpPr txBox="1"/>
          <p:nvPr/>
        </p:nvSpPr>
        <p:spPr>
          <a:xfrm>
            <a:off x="7991856" y="2898648"/>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Oui</a:t>
            </a:r>
            <a:endParaRPr lang="en-US" sz="1100" dirty="0"/>
          </a:p>
        </p:txBody>
      </p:sp>
      <p:sp>
        <p:nvSpPr>
          <p:cNvPr id="22" name="Text 20"/>
          <p:cNvSpPr txBox="1"/>
          <p:nvPr/>
        </p:nvSpPr>
        <p:spPr>
          <a:xfrm>
            <a:off x="768096" y="3223260"/>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Qualité des appels de l'utilisateur</a:t>
            </a:r>
            <a:endParaRPr lang="en-US" sz="1100" dirty="0"/>
          </a:p>
        </p:txBody>
      </p:sp>
      <p:sp>
        <p:nvSpPr>
          <p:cNvPr id="23" name="Text 21"/>
          <p:cNvSpPr txBox="1"/>
          <p:nvPr/>
        </p:nvSpPr>
        <p:spPr>
          <a:xfrm>
            <a:off x="4882896" y="3223260"/>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Inchangée</a:t>
            </a:r>
            <a:endParaRPr lang="en-US" sz="1100" dirty="0"/>
          </a:p>
        </p:txBody>
      </p:sp>
      <p:sp>
        <p:nvSpPr>
          <p:cNvPr id="24" name="Text 22"/>
          <p:cNvSpPr txBox="1"/>
          <p:nvPr/>
        </p:nvSpPr>
        <p:spPr>
          <a:xfrm>
            <a:off x="7991856" y="3223260"/>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Dépend de sa connexion Internet</a:t>
            </a:r>
            <a:endParaRPr lang="en-US" sz="1100" dirty="0"/>
          </a:p>
        </p:txBody>
      </p:sp>
      <p:sp>
        <p:nvSpPr>
          <p:cNvPr id="25" name="Shape 23"/>
          <p:cNvSpPr/>
          <p:nvPr/>
        </p:nvSpPr>
        <p:spPr>
          <a:xfrm>
            <a:off x="640080" y="3547872"/>
            <a:ext cx="10881360" cy="324612"/>
          </a:xfrm>
          <a:prstGeom prst="rect">
            <a:avLst/>
          </a:prstGeom>
          <a:solidFill>
            <a:srgbClr val="F2F5FA"/>
          </a:solidFill>
          <a:ln/>
        </p:spPr>
      </p:sp>
      <p:sp>
        <p:nvSpPr>
          <p:cNvPr id="26" name="Text 24"/>
          <p:cNvSpPr txBox="1"/>
          <p:nvPr/>
        </p:nvSpPr>
        <p:spPr>
          <a:xfrm>
            <a:off x="768096" y="3547872"/>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L'utilisateur peut-il rater des appels ?</a:t>
            </a:r>
            <a:endParaRPr lang="en-US" sz="1100" dirty="0"/>
          </a:p>
        </p:txBody>
      </p:sp>
      <p:sp>
        <p:nvSpPr>
          <p:cNvPr id="27" name="Text 25"/>
          <p:cNvSpPr txBox="1"/>
          <p:nvPr/>
        </p:nvSpPr>
        <p:spPr>
          <a:xfrm>
            <a:off x="4882896" y="3547872"/>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Non</a:t>
            </a:r>
            <a:endParaRPr lang="en-US" sz="1100" dirty="0"/>
          </a:p>
        </p:txBody>
      </p:sp>
      <p:sp>
        <p:nvSpPr>
          <p:cNvPr id="28" name="Text 26"/>
          <p:cNvSpPr txBox="1"/>
          <p:nvPr/>
        </p:nvSpPr>
        <p:spPr>
          <a:xfrm>
            <a:off x="7991856" y="3547872"/>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Oui, sans Internet — point dur n° 1</a:t>
            </a:r>
            <a:endParaRPr lang="en-US" sz="1100" dirty="0"/>
          </a:p>
        </p:txBody>
      </p:sp>
      <p:sp>
        <p:nvSpPr>
          <p:cNvPr id="29" name="Text 27"/>
          <p:cNvSpPr txBox="1"/>
          <p:nvPr/>
        </p:nvSpPr>
        <p:spPr>
          <a:xfrm>
            <a:off x="768096" y="3872484"/>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Mesure des diffusions</a:t>
            </a:r>
            <a:endParaRPr lang="en-US" sz="1100" dirty="0"/>
          </a:p>
        </p:txBody>
      </p:sp>
      <p:sp>
        <p:nvSpPr>
          <p:cNvPr id="30" name="Text 28"/>
          <p:cNvSpPr txBox="1"/>
          <p:nvPr/>
        </p:nvSpPr>
        <p:spPr>
          <a:xfrm>
            <a:off x="4882896" y="3872484"/>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Exacte (opérateur)</a:t>
            </a:r>
            <a:endParaRPr lang="en-US" sz="1100" dirty="0"/>
          </a:p>
        </p:txBody>
      </p:sp>
      <p:sp>
        <p:nvSpPr>
          <p:cNvPr id="31" name="Text 29"/>
          <p:cNvSpPr txBox="1"/>
          <p:nvPr/>
        </p:nvSpPr>
        <p:spPr>
          <a:xfrm>
            <a:off x="7991856" y="3872484"/>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Exacte (plateforme Call Com)</a:t>
            </a:r>
            <a:endParaRPr lang="en-US" sz="1100" dirty="0"/>
          </a:p>
        </p:txBody>
      </p:sp>
      <p:sp>
        <p:nvSpPr>
          <p:cNvPr id="32" name="Shape 30"/>
          <p:cNvSpPr/>
          <p:nvPr/>
        </p:nvSpPr>
        <p:spPr>
          <a:xfrm>
            <a:off x="640080" y="4197096"/>
            <a:ext cx="10881360" cy="324612"/>
          </a:xfrm>
          <a:prstGeom prst="rect">
            <a:avLst/>
          </a:prstGeom>
          <a:solidFill>
            <a:srgbClr val="F2F5FA"/>
          </a:solidFill>
          <a:ln/>
        </p:spPr>
      </p:sp>
      <p:sp>
        <p:nvSpPr>
          <p:cNvPr id="33" name="Text 31"/>
          <p:cNvSpPr txBox="1"/>
          <p:nvPr/>
        </p:nvSpPr>
        <p:spPr>
          <a:xfrm>
            <a:off x="768096" y="4197096"/>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Accord opérateur nécessaire</a:t>
            </a:r>
            <a:endParaRPr lang="en-US" sz="1100" dirty="0"/>
          </a:p>
        </p:txBody>
      </p:sp>
      <p:sp>
        <p:nvSpPr>
          <p:cNvPr id="34" name="Text 32"/>
          <p:cNvSpPr txBox="1"/>
          <p:nvPr/>
        </p:nvSpPr>
        <p:spPr>
          <a:xfrm>
            <a:off x="4882896" y="4197096"/>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Indispensable</a:t>
            </a:r>
            <a:endParaRPr lang="en-US" sz="1100" dirty="0"/>
          </a:p>
        </p:txBody>
      </p:sp>
      <p:sp>
        <p:nvSpPr>
          <p:cNvPr id="35" name="Text 33"/>
          <p:cNvSpPr txBox="1"/>
          <p:nvPr/>
        </p:nvSpPr>
        <p:spPr>
          <a:xfrm>
            <a:off x="7991856" y="4197096"/>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Pas technique, mais tarifaire</a:t>
            </a:r>
            <a:endParaRPr lang="en-US" sz="1100" dirty="0"/>
          </a:p>
        </p:txBody>
      </p:sp>
      <p:sp>
        <p:nvSpPr>
          <p:cNvPr id="36" name="Text 34"/>
          <p:cNvSpPr txBox="1"/>
          <p:nvPr/>
        </p:nvSpPr>
        <p:spPr>
          <a:xfrm>
            <a:off x="768096" y="4521708"/>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Coût par appel</a:t>
            </a:r>
            <a:endParaRPr lang="en-US" sz="1100" dirty="0"/>
          </a:p>
        </p:txBody>
      </p:sp>
      <p:sp>
        <p:nvSpPr>
          <p:cNvPr id="37" name="Text 35"/>
          <p:cNvSpPr txBox="1"/>
          <p:nvPr/>
        </p:nvSpPr>
        <p:spPr>
          <a:xfrm>
            <a:off x="4882896" y="4521708"/>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Quasi nul</a:t>
            </a:r>
            <a:endParaRPr lang="en-US" sz="1100" dirty="0"/>
          </a:p>
        </p:txBody>
      </p:sp>
      <p:sp>
        <p:nvSpPr>
          <p:cNvPr id="38" name="Text 36"/>
          <p:cNvSpPr txBox="1"/>
          <p:nvPr/>
        </p:nvSpPr>
        <p:spPr>
          <a:xfrm>
            <a:off x="7991856" y="4521708"/>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Non nul — un acheminement par appel</a:t>
            </a:r>
            <a:endParaRPr lang="en-US" sz="1100" dirty="0"/>
          </a:p>
        </p:txBody>
      </p:sp>
      <p:sp>
        <p:nvSpPr>
          <p:cNvPr id="39" name="Shape 37"/>
          <p:cNvSpPr/>
          <p:nvPr/>
        </p:nvSpPr>
        <p:spPr>
          <a:xfrm>
            <a:off x="640080" y="4846320"/>
            <a:ext cx="10881360" cy="324612"/>
          </a:xfrm>
          <a:prstGeom prst="rect">
            <a:avLst/>
          </a:prstGeom>
          <a:solidFill>
            <a:srgbClr val="F2F5FA"/>
          </a:solidFill>
          <a:ln/>
        </p:spPr>
      </p:sp>
      <p:sp>
        <p:nvSpPr>
          <p:cNvPr id="40" name="Text 38"/>
          <p:cNvSpPr txBox="1"/>
          <p:nvPr/>
        </p:nvSpPr>
        <p:spPr>
          <a:xfrm>
            <a:off x="768096" y="4846320"/>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Encadrement réglementaire</a:t>
            </a:r>
            <a:endParaRPr lang="en-US" sz="1100" dirty="0"/>
          </a:p>
        </p:txBody>
      </p:sp>
      <p:sp>
        <p:nvSpPr>
          <p:cNvPr id="41" name="Text 39"/>
          <p:cNvSpPr txBox="1"/>
          <p:nvPr/>
        </p:nvSpPr>
        <p:spPr>
          <a:xfrm>
            <a:off x="4882896" y="4846320"/>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Porté par l'opérateur</a:t>
            </a:r>
            <a:endParaRPr lang="en-US" sz="1100" dirty="0"/>
          </a:p>
        </p:txBody>
      </p:sp>
      <p:sp>
        <p:nvSpPr>
          <p:cNvPr id="42" name="Text 40"/>
          <p:cNvSpPr txBox="1"/>
          <p:nvPr/>
        </p:nvSpPr>
        <p:spPr>
          <a:xfrm>
            <a:off x="7991856" y="4846320"/>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À porter par Call Com</a:t>
            </a:r>
            <a:endParaRPr lang="en-US" sz="1100" dirty="0"/>
          </a:p>
        </p:txBody>
      </p:sp>
      <p:sp>
        <p:nvSpPr>
          <p:cNvPr id="43" name="Text 41"/>
          <p:cNvSpPr txBox="1"/>
          <p:nvPr/>
        </p:nvSpPr>
        <p:spPr>
          <a:xfrm>
            <a:off x="768096" y="5170932"/>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Délai avant mise en service</a:t>
            </a:r>
            <a:endParaRPr lang="en-US" sz="1100" dirty="0"/>
          </a:p>
        </p:txBody>
      </p:sp>
      <p:sp>
        <p:nvSpPr>
          <p:cNvPr id="44" name="Text 42"/>
          <p:cNvSpPr txBox="1"/>
          <p:nvPr/>
        </p:nvSpPr>
        <p:spPr>
          <a:xfrm>
            <a:off x="4882896" y="5170932"/>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6 à 18 mois</a:t>
            </a:r>
            <a:endParaRPr lang="en-US" sz="1100" dirty="0"/>
          </a:p>
        </p:txBody>
      </p:sp>
      <p:sp>
        <p:nvSpPr>
          <p:cNvPr id="45" name="Text 43"/>
          <p:cNvSpPr txBox="1"/>
          <p:nvPr/>
        </p:nvSpPr>
        <p:spPr>
          <a:xfrm>
            <a:off x="7991856" y="5170932"/>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3 à 5 mois</a:t>
            </a:r>
            <a:endParaRPr lang="en-US" sz="1100" dirty="0"/>
          </a:p>
        </p:txBody>
      </p:sp>
      <p:sp>
        <p:nvSpPr>
          <p:cNvPr id="46" name="Shape 44"/>
          <p:cNvSpPr/>
          <p:nvPr/>
        </p:nvSpPr>
        <p:spPr>
          <a:xfrm>
            <a:off x="640080" y="5495544"/>
            <a:ext cx="10881360" cy="324612"/>
          </a:xfrm>
          <a:prstGeom prst="rect">
            <a:avLst/>
          </a:prstGeom>
          <a:solidFill>
            <a:srgbClr val="F2F5FA"/>
          </a:solidFill>
          <a:ln/>
        </p:spPr>
      </p:sp>
      <p:sp>
        <p:nvSpPr>
          <p:cNvPr id="47" name="Text 45"/>
          <p:cNvSpPr txBox="1"/>
          <p:nvPr/>
        </p:nvSpPr>
        <p:spPr>
          <a:xfrm>
            <a:off x="768096" y="5495544"/>
            <a:ext cx="3895344" cy="324612"/>
          </a:xfrm>
          <a:prstGeom prst="rect">
            <a:avLst/>
          </a:prstGeom>
          <a:noFill/>
          <a:ln/>
        </p:spPr>
        <p:txBody>
          <a:bodyPr wrap="square" lIns="0" tIns="0" rIns="0" bIns="0" rtlCol="0" anchor="ctr"/>
          <a:lstStyle/>
          <a:p>
            <a:pPr indent="0" marL="0">
              <a:buNone/>
            </a:pPr>
            <a:r>
              <a:rPr lang="en-US" sz="1100" b="1" dirty="0">
                <a:solidFill>
                  <a:srgbClr val="1A1F36"/>
                </a:solidFill>
                <a:latin typeface="Calibri" pitchFamily="34" charset="0"/>
                <a:ea typeface="Calibri" pitchFamily="34" charset="-122"/>
                <a:cs typeface="Calibri" pitchFamily="34" charset="-120"/>
              </a:rPr>
              <a:t>Maîtrise du calendrier</a:t>
            </a:r>
            <a:endParaRPr lang="en-US" sz="1100" dirty="0"/>
          </a:p>
        </p:txBody>
      </p:sp>
      <p:sp>
        <p:nvSpPr>
          <p:cNvPr id="48" name="Text 46"/>
          <p:cNvSpPr txBox="1"/>
          <p:nvPr/>
        </p:nvSpPr>
        <p:spPr>
          <a:xfrm>
            <a:off x="4882896" y="5495544"/>
            <a:ext cx="288950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Faible</a:t>
            </a:r>
            <a:endParaRPr lang="en-US" sz="1100" dirty="0"/>
          </a:p>
        </p:txBody>
      </p:sp>
      <p:sp>
        <p:nvSpPr>
          <p:cNvPr id="49" name="Text 47"/>
          <p:cNvSpPr txBox="1"/>
          <p:nvPr/>
        </p:nvSpPr>
        <p:spPr>
          <a:xfrm>
            <a:off x="7991856" y="5495544"/>
            <a:ext cx="3438144" cy="32461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Complète</a:t>
            </a:r>
            <a:endParaRPr lang="en-US" sz="1100" dirty="0"/>
          </a:p>
        </p:txBody>
      </p:sp>
      <p:sp>
        <p:nvSpPr>
          <p:cNvPr id="50" name="Text 48"/>
          <p:cNvSpPr txBox="1"/>
          <p:nvPr/>
        </p:nvSpPr>
        <p:spPr>
          <a:xfrm>
            <a:off x="640080" y="6382512"/>
            <a:ext cx="10972800" cy="274320"/>
          </a:xfrm>
          <a:prstGeom prst="rect">
            <a:avLst/>
          </a:prstGeom>
          <a:noFill/>
          <a:ln/>
        </p:spPr>
        <p:txBody>
          <a:bodyPr wrap="square" lIns="0" tIns="0" rIns="0" bIns="0" rtlCol="0" anchor="ctr"/>
          <a:lstStyle/>
          <a:p>
            <a:pPr indent="0" marL="0">
              <a:buNone/>
            </a:pPr>
            <a:r>
              <a:rPr lang="en-US" sz="950" dirty="0">
                <a:solidFill>
                  <a:srgbClr val="95A0B8"/>
                </a:solidFill>
                <a:latin typeface="Calibri" pitchFamily="34" charset="0"/>
                <a:ea typeface="Calibri" pitchFamily="34" charset="-122"/>
                <a:cs typeface="Calibri" pitchFamily="34" charset="-120"/>
              </a:rPr>
              <a:t>Les deux voies sont compatibles : la voie B peut servir de démonstrateur commercial pour négocier la voie 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L'essentiel du produit est constructible dès maintenant</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Bonne nouvelle : le mécanisme de diffusion ne représente qu'environ un cinquième du travail</a:t>
            </a:r>
            <a:endParaRPr lang="en-US" sz="1500" dirty="0"/>
          </a:p>
        </p:txBody>
      </p:sp>
      <p:sp>
        <p:nvSpPr>
          <p:cNvPr id="4" name="Shape 2"/>
          <p:cNvSpPr/>
          <p:nvPr/>
        </p:nvSpPr>
        <p:spPr>
          <a:xfrm>
            <a:off x="731520" y="1783080"/>
            <a:ext cx="2286000" cy="2286000"/>
          </a:xfrm>
          <a:prstGeom prst="ellipse">
            <a:avLst/>
          </a:prstGeom>
          <a:solidFill>
            <a:srgbClr val="1E2761"/>
          </a:solidFill>
          <a:ln/>
        </p:spPr>
      </p:sp>
      <p:sp>
        <p:nvSpPr>
          <p:cNvPr id="5" name="Text 3"/>
          <p:cNvSpPr txBox="1"/>
          <p:nvPr/>
        </p:nvSpPr>
        <p:spPr>
          <a:xfrm>
            <a:off x="731520" y="1783080"/>
            <a:ext cx="2286000" cy="228600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80</a:t>
            </a:r>
            <a:endParaRPr lang="en-US" sz="5200" dirty="0"/>
          </a:p>
          <a:p>
            <a:pPr algn="ctr" indent="0" marL="0">
              <a:buNone/>
            </a:pPr>
            <a:r>
              <a:rPr lang="en-US" sz="1400" dirty="0">
                <a:solidFill>
                  <a:srgbClr val="CADCFC"/>
                </a:solidFill>
                <a:latin typeface="Cambria" pitchFamily="34" charset="0"/>
                <a:ea typeface="Cambria" pitchFamily="34" charset="-122"/>
                <a:cs typeface="Cambria" pitchFamily="34" charset="-120"/>
              </a:rPr>
              <a:t>% du produit</a:t>
            </a:r>
            <a:endParaRPr lang="en-US" sz="5200" dirty="0"/>
          </a:p>
        </p:txBody>
      </p:sp>
      <p:sp>
        <p:nvSpPr>
          <p:cNvPr id="6" name="Text 4"/>
          <p:cNvSpPr txBox="1"/>
          <p:nvPr/>
        </p:nvSpPr>
        <p:spPr>
          <a:xfrm>
            <a:off x="475488" y="4224528"/>
            <a:ext cx="2798064" cy="548640"/>
          </a:xfrm>
          <a:prstGeom prst="rect">
            <a:avLst/>
          </a:prstGeom>
          <a:noFill/>
          <a:ln/>
        </p:spPr>
        <p:txBody>
          <a:bodyPr wrap="square" lIns="0" tIns="0" rIns="0" bIns="0" rtlCol="0" anchor="ctr"/>
          <a:lstStyle/>
          <a:p>
            <a:pPr algn="ctr" indent="0" marL="0">
              <a:lnSpc>
                <a:spcPts val="1500"/>
              </a:lnSpc>
              <a:buNone/>
            </a:pPr>
            <a:r>
              <a:rPr lang="en-US" sz="1200" dirty="0">
                <a:solidFill>
                  <a:srgbClr val="5A6480"/>
                </a:solidFill>
                <a:latin typeface="Calibri" pitchFamily="34" charset="0"/>
                <a:ea typeface="Calibri" pitchFamily="34" charset="-122"/>
                <a:cs typeface="Calibri" pitchFamily="34" charset="-120"/>
              </a:rPr>
              <a:t>ne dépend pas du choix de la voie A ou B</a:t>
            </a:r>
            <a:endParaRPr lang="en-US" sz="1200" dirty="0"/>
          </a:p>
        </p:txBody>
      </p:sp>
      <p:sp>
        <p:nvSpPr>
          <p:cNvPr id="7" name="Shape 5"/>
          <p:cNvSpPr/>
          <p:nvPr/>
        </p:nvSpPr>
        <p:spPr>
          <a:xfrm>
            <a:off x="3566160" y="1783080"/>
            <a:ext cx="3749040" cy="1234440"/>
          </a:xfrm>
          <a:prstGeom prst="roundRect">
            <a:avLst>
              <a:gd name="adj" fmla="val 4444"/>
            </a:avLst>
          </a:prstGeom>
          <a:solidFill>
            <a:srgbClr val="F2F5FA"/>
          </a:solidFill>
          <a:ln/>
        </p:spPr>
      </p:sp>
      <p:sp>
        <p:nvSpPr>
          <p:cNvPr id="8" name="Text 6"/>
          <p:cNvSpPr txBox="1"/>
          <p:nvPr/>
        </p:nvSpPr>
        <p:spPr>
          <a:xfrm>
            <a:off x="3767328" y="1911096"/>
            <a:ext cx="334670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Application mobile</a:t>
            </a:r>
            <a:endParaRPr lang="en-US" sz="1300" dirty="0"/>
          </a:p>
        </p:txBody>
      </p:sp>
      <p:sp>
        <p:nvSpPr>
          <p:cNvPr id="9" name="Text 7"/>
          <p:cNvSpPr txBox="1"/>
          <p:nvPr/>
        </p:nvSpPr>
        <p:spPr>
          <a:xfrm>
            <a:off x="3767328" y="2221992"/>
            <a:ext cx="3346704" cy="685800"/>
          </a:xfrm>
          <a:prstGeom prst="rect">
            <a:avLst/>
          </a:prstGeom>
          <a:noFill/>
          <a:ln/>
        </p:spPr>
        <p:txBody>
          <a:bodyPr wrap="square" lIns="0" tIns="0" rIns="0" bIns="0" rtlCol="0" anchor="ctr"/>
          <a:lstStyle/>
          <a:p>
            <a:pPr indent="0" marL="0">
              <a:lnSpc>
                <a:spcPts val="1350"/>
              </a:lnSpc>
              <a:buNone/>
            </a:pPr>
            <a:r>
              <a:rPr lang="en-US" sz="1050" dirty="0">
                <a:solidFill>
                  <a:srgbClr val="5A6480"/>
                </a:solidFill>
                <a:latin typeface="Calibri" pitchFamily="34" charset="0"/>
                <a:ea typeface="Calibri" pitchFamily="34" charset="-122"/>
                <a:cs typeface="Calibri" pitchFamily="34" charset="-120"/>
              </a:rPr>
              <a:t>Inscription, code de vérification, consentement, activation, solde, historique, récompenses, notifications — §5, §9, §16</a:t>
            </a:r>
            <a:endParaRPr lang="en-US" sz="1050" dirty="0"/>
          </a:p>
        </p:txBody>
      </p:sp>
      <p:sp>
        <p:nvSpPr>
          <p:cNvPr id="10" name="Shape 8"/>
          <p:cNvSpPr/>
          <p:nvPr/>
        </p:nvSpPr>
        <p:spPr>
          <a:xfrm>
            <a:off x="7589520" y="1783080"/>
            <a:ext cx="3749040" cy="1234440"/>
          </a:xfrm>
          <a:prstGeom prst="roundRect">
            <a:avLst>
              <a:gd name="adj" fmla="val 4444"/>
            </a:avLst>
          </a:prstGeom>
          <a:solidFill>
            <a:srgbClr val="FFFFFF"/>
          </a:solidFill>
          <a:ln w="12700">
            <a:solidFill>
              <a:srgbClr val="DCE4F0"/>
            </a:solidFill>
            <a:prstDash val="solid"/>
          </a:ln>
        </p:spPr>
      </p:sp>
      <p:sp>
        <p:nvSpPr>
          <p:cNvPr id="11" name="Text 9"/>
          <p:cNvSpPr txBox="1"/>
          <p:nvPr/>
        </p:nvSpPr>
        <p:spPr>
          <a:xfrm>
            <a:off x="7790688" y="1911096"/>
            <a:ext cx="334670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Gestion des unités</a:t>
            </a:r>
            <a:endParaRPr lang="en-US" sz="1300" dirty="0"/>
          </a:p>
        </p:txBody>
      </p:sp>
      <p:sp>
        <p:nvSpPr>
          <p:cNvPr id="12" name="Text 10"/>
          <p:cNvSpPr txBox="1"/>
          <p:nvPr/>
        </p:nvSpPr>
        <p:spPr>
          <a:xfrm>
            <a:off x="7790688" y="2221992"/>
            <a:ext cx="3346704" cy="685800"/>
          </a:xfrm>
          <a:prstGeom prst="rect">
            <a:avLst/>
          </a:prstGeom>
          <a:noFill/>
          <a:ln/>
        </p:spPr>
        <p:txBody>
          <a:bodyPr wrap="square" lIns="0" tIns="0" rIns="0" bIns="0" rtlCol="0" anchor="ctr"/>
          <a:lstStyle/>
          <a:p>
            <a:pPr indent="0" marL="0">
              <a:lnSpc>
                <a:spcPts val="1350"/>
              </a:lnSpc>
              <a:buNone/>
            </a:pPr>
            <a:r>
              <a:rPr lang="en-US" sz="1050" dirty="0">
                <a:solidFill>
                  <a:srgbClr val="5A6480"/>
                </a:solidFill>
                <a:latin typeface="Calibri" pitchFamily="34" charset="0"/>
                <a:ea typeface="Calibri" pitchFamily="34" charset="-122"/>
                <a:cs typeface="Calibri" pitchFamily="34" charset="-120"/>
              </a:rPr>
              <a:t>Attribution, plafonds, barème paramétrable, journal complet de chaque mouvement — §8, §12</a:t>
            </a:r>
            <a:endParaRPr lang="en-US" sz="1050" dirty="0"/>
          </a:p>
        </p:txBody>
      </p:sp>
      <p:sp>
        <p:nvSpPr>
          <p:cNvPr id="13" name="Shape 11"/>
          <p:cNvSpPr/>
          <p:nvPr/>
        </p:nvSpPr>
        <p:spPr>
          <a:xfrm>
            <a:off x="3566160" y="3200400"/>
            <a:ext cx="3749040" cy="1234440"/>
          </a:xfrm>
          <a:prstGeom prst="roundRect">
            <a:avLst>
              <a:gd name="adj" fmla="val 4444"/>
            </a:avLst>
          </a:prstGeom>
          <a:solidFill>
            <a:srgbClr val="F2F5FA"/>
          </a:solidFill>
          <a:ln/>
        </p:spPr>
      </p:sp>
      <p:sp>
        <p:nvSpPr>
          <p:cNvPr id="14" name="Text 12"/>
          <p:cNvSpPr txBox="1"/>
          <p:nvPr/>
        </p:nvSpPr>
        <p:spPr>
          <a:xfrm>
            <a:off x="3767328" y="3328416"/>
            <a:ext cx="334670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Récompenses</a:t>
            </a:r>
            <a:endParaRPr lang="en-US" sz="1300" dirty="0"/>
          </a:p>
        </p:txBody>
      </p:sp>
      <p:sp>
        <p:nvSpPr>
          <p:cNvPr id="15" name="Text 13"/>
          <p:cNvSpPr txBox="1"/>
          <p:nvPr/>
        </p:nvSpPr>
        <p:spPr>
          <a:xfrm>
            <a:off x="3767328" y="3639312"/>
            <a:ext cx="3346704" cy="685800"/>
          </a:xfrm>
          <a:prstGeom prst="rect">
            <a:avLst/>
          </a:prstGeom>
          <a:noFill/>
          <a:ln/>
        </p:spPr>
        <p:txBody>
          <a:bodyPr wrap="square" lIns="0" tIns="0" rIns="0" bIns="0" rtlCol="0" anchor="ctr"/>
          <a:lstStyle/>
          <a:p>
            <a:pPr indent="0" marL="0">
              <a:lnSpc>
                <a:spcPts val="1350"/>
              </a:lnSpc>
              <a:buNone/>
            </a:pPr>
            <a:r>
              <a:rPr lang="en-US" sz="1050" dirty="0">
                <a:solidFill>
                  <a:srgbClr val="5A6480"/>
                </a:solidFill>
                <a:latin typeface="Calibri" pitchFamily="34" charset="0"/>
                <a:ea typeface="Calibri" pitchFamily="34" charset="-122"/>
                <a:cs typeface="Calibri" pitchFamily="34" charset="-120"/>
              </a:rPr>
              <a:t>Catalogue data, crédit, minutes ; demande, traitement, suivi des statuts — §8.3, §8.5</a:t>
            </a:r>
            <a:endParaRPr lang="en-US" sz="1050" dirty="0"/>
          </a:p>
        </p:txBody>
      </p:sp>
      <p:sp>
        <p:nvSpPr>
          <p:cNvPr id="16" name="Shape 14"/>
          <p:cNvSpPr/>
          <p:nvPr/>
        </p:nvSpPr>
        <p:spPr>
          <a:xfrm>
            <a:off x="7589520" y="3200400"/>
            <a:ext cx="3749040" cy="1234440"/>
          </a:xfrm>
          <a:prstGeom prst="roundRect">
            <a:avLst>
              <a:gd name="adj" fmla="val 4444"/>
            </a:avLst>
          </a:prstGeom>
          <a:solidFill>
            <a:srgbClr val="FFFFFF"/>
          </a:solidFill>
          <a:ln w="12700">
            <a:solidFill>
              <a:srgbClr val="DCE4F0"/>
            </a:solidFill>
            <a:prstDash val="solid"/>
          </a:ln>
        </p:spPr>
      </p:sp>
      <p:sp>
        <p:nvSpPr>
          <p:cNvPr id="17" name="Text 15"/>
          <p:cNvSpPr txBox="1"/>
          <p:nvPr/>
        </p:nvSpPr>
        <p:spPr>
          <a:xfrm>
            <a:off x="7790688" y="3328416"/>
            <a:ext cx="334670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Dashboard</a:t>
            </a:r>
            <a:endParaRPr lang="en-US" sz="1300" dirty="0"/>
          </a:p>
        </p:txBody>
      </p:sp>
      <p:sp>
        <p:nvSpPr>
          <p:cNvPr id="18" name="Text 16"/>
          <p:cNvSpPr txBox="1"/>
          <p:nvPr/>
        </p:nvSpPr>
        <p:spPr>
          <a:xfrm>
            <a:off x="7790688" y="3639312"/>
            <a:ext cx="3346704" cy="685800"/>
          </a:xfrm>
          <a:prstGeom prst="rect">
            <a:avLst/>
          </a:prstGeom>
          <a:noFill/>
          <a:ln/>
        </p:spPr>
        <p:txBody>
          <a:bodyPr wrap="square" lIns="0" tIns="0" rIns="0" bIns="0" rtlCol="0" anchor="ctr"/>
          <a:lstStyle/>
          <a:p>
            <a:pPr indent="0" marL="0">
              <a:lnSpc>
                <a:spcPts val="1350"/>
              </a:lnSpc>
              <a:buNone/>
            </a:pPr>
            <a:r>
              <a:rPr lang="en-US" sz="1050" dirty="0">
                <a:solidFill>
                  <a:srgbClr val="5A6480"/>
                </a:solidFill>
                <a:latin typeface="Calibri" pitchFamily="34" charset="0"/>
                <a:ea typeface="Calibri" pitchFamily="34" charset="-122"/>
                <a:cs typeface="Calibri" pitchFamily="34" charset="-120"/>
              </a:rPr>
              <a:t>Utilisateurs, annonceurs, campagnes, validation des annonces, planification, statistiques — §10</a:t>
            </a:r>
            <a:endParaRPr lang="en-US" sz="1050" dirty="0"/>
          </a:p>
        </p:txBody>
      </p:sp>
      <p:sp>
        <p:nvSpPr>
          <p:cNvPr id="19" name="Shape 17"/>
          <p:cNvSpPr/>
          <p:nvPr/>
        </p:nvSpPr>
        <p:spPr>
          <a:xfrm>
            <a:off x="3566160" y="4617720"/>
            <a:ext cx="3749040" cy="1234440"/>
          </a:xfrm>
          <a:prstGeom prst="roundRect">
            <a:avLst>
              <a:gd name="adj" fmla="val 4444"/>
            </a:avLst>
          </a:prstGeom>
          <a:solidFill>
            <a:srgbClr val="F2F5FA"/>
          </a:solidFill>
          <a:ln/>
        </p:spPr>
      </p:sp>
      <p:sp>
        <p:nvSpPr>
          <p:cNvPr id="20" name="Text 18"/>
          <p:cNvSpPr txBox="1"/>
          <p:nvPr/>
        </p:nvSpPr>
        <p:spPr>
          <a:xfrm>
            <a:off x="3767328" y="4745736"/>
            <a:ext cx="334670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Facturation annonceur</a:t>
            </a:r>
            <a:endParaRPr lang="en-US" sz="1300" dirty="0"/>
          </a:p>
        </p:txBody>
      </p:sp>
      <p:sp>
        <p:nvSpPr>
          <p:cNvPr id="21" name="Text 19"/>
          <p:cNvSpPr txBox="1"/>
          <p:nvPr/>
        </p:nvSpPr>
        <p:spPr>
          <a:xfrm>
            <a:off x="3767328" y="5056632"/>
            <a:ext cx="3346704" cy="685800"/>
          </a:xfrm>
          <a:prstGeom prst="rect">
            <a:avLst/>
          </a:prstGeom>
          <a:noFill/>
          <a:ln/>
        </p:spPr>
        <p:txBody>
          <a:bodyPr wrap="square" lIns="0" tIns="0" rIns="0" bIns="0" rtlCol="0" anchor="ctr"/>
          <a:lstStyle/>
          <a:p>
            <a:pPr indent="0" marL="0">
              <a:lnSpc>
                <a:spcPts val="1350"/>
              </a:lnSpc>
              <a:buNone/>
            </a:pPr>
            <a:r>
              <a:rPr lang="en-US" sz="1050" dirty="0">
                <a:solidFill>
                  <a:srgbClr val="5A6480"/>
                </a:solidFill>
                <a:latin typeface="Calibri" pitchFamily="34" charset="0"/>
                <a:ea typeface="Calibri" pitchFamily="34" charset="-122"/>
                <a:cs typeface="Calibri" pitchFamily="34" charset="-120"/>
              </a:rPr>
              <a:t>Coût par diffusion, forfait, coût pour mille, budget prépayé — §11</a:t>
            </a:r>
            <a:endParaRPr lang="en-US" sz="1050" dirty="0"/>
          </a:p>
        </p:txBody>
      </p:sp>
      <p:sp>
        <p:nvSpPr>
          <p:cNvPr id="22" name="Shape 20"/>
          <p:cNvSpPr/>
          <p:nvPr/>
        </p:nvSpPr>
        <p:spPr>
          <a:xfrm>
            <a:off x="7589520" y="4617720"/>
            <a:ext cx="3749040" cy="1234440"/>
          </a:xfrm>
          <a:prstGeom prst="roundRect">
            <a:avLst>
              <a:gd name="adj" fmla="val 4444"/>
            </a:avLst>
          </a:prstGeom>
          <a:solidFill>
            <a:srgbClr val="FFFFFF"/>
          </a:solidFill>
          <a:ln w="12700">
            <a:solidFill>
              <a:srgbClr val="DCE4F0"/>
            </a:solidFill>
            <a:prstDash val="solid"/>
          </a:ln>
        </p:spPr>
      </p:sp>
      <p:sp>
        <p:nvSpPr>
          <p:cNvPr id="23" name="Text 21"/>
          <p:cNvSpPr txBox="1"/>
          <p:nvPr/>
        </p:nvSpPr>
        <p:spPr>
          <a:xfrm>
            <a:off x="7790688" y="4745736"/>
            <a:ext cx="334670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Anti-fraude et traçabilité</a:t>
            </a:r>
            <a:endParaRPr lang="en-US" sz="1300" dirty="0"/>
          </a:p>
        </p:txBody>
      </p:sp>
      <p:sp>
        <p:nvSpPr>
          <p:cNvPr id="24" name="Text 22"/>
          <p:cNvSpPr txBox="1"/>
          <p:nvPr/>
        </p:nvSpPr>
        <p:spPr>
          <a:xfrm>
            <a:off x="7790688" y="5056632"/>
            <a:ext cx="3346704" cy="685800"/>
          </a:xfrm>
          <a:prstGeom prst="rect">
            <a:avLst/>
          </a:prstGeom>
          <a:noFill/>
          <a:ln/>
        </p:spPr>
        <p:txBody>
          <a:bodyPr wrap="square" lIns="0" tIns="0" rIns="0" bIns="0" rtlCol="0" anchor="ctr"/>
          <a:lstStyle/>
          <a:p>
            <a:pPr indent="0" marL="0">
              <a:lnSpc>
                <a:spcPts val="1350"/>
              </a:lnSpc>
              <a:buNone/>
            </a:pPr>
            <a:r>
              <a:rPr lang="en-US" sz="1050" dirty="0">
                <a:solidFill>
                  <a:srgbClr val="5A6480"/>
                </a:solidFill>
                <a:latin typeface="Calibri" pitchFamily="34" charset="0"/>
                <a:ea typeface="Calibri" pitchFamily="34" charset="-122"/>
                <a:cs typeface="Calibri" pitchFamily="34" charset="-120"/>
              </a:rPr>
              <a:t>Détection des comptes multiples, activité anormale, journal d'événements — §13</a:t>
            </a:r>
            <a:endParaRPr lang="en-US" sz="1050" dirty="0"/>
          </a:p>
        </p:txBody>
      </p:sp>
      <p:sp>
        <p:nvSpPr>
          <p:cNvPr id="25" name="Text 23"/>
          <p:cNvSpPr txBox="1"/>
          <p:nvPr/>
        </p:nvSpPr>
        <p:spPr>
          <a:xfrm>
            <a:off x="640080" y="5943600"/>
            <a:ext cx="10881360" cy="411480"/>
          </a:xfrm>
          <a:prstGeom prst="rect">
            <a:avLst/>
          </a:prstGeom>
          <a:noFill/>
          <a:ln/>
        </p:spPr>
        <p:txBody>
          <a:bodyPr wrap="square" lIns="0" tIns="0" rIns="0" bIns="0" rtlCol="0" anchor="ctr"/>
          <a:lstStyle/>
          <a:p>
            <a:pPr indent="0" marL="0">
              <a:lnSpc>
                <a:spcPts val="1600"/>
              </a:lnSpc>
              <a:buNone/>
            </a:pPr>
            <a:r>
              <a:rPr lang="en-US" sz="1250" b="1" dirty="0">
                <a:solidFill>
                  <a:srgbClr val="1E2761"/>
                </a:solidFill>
                <a:latin typeface="Calibri" pitchFamily="34" charset="0"/>
                <a:ea typeface="Calibri" pitchFamily="34" charset="-122"/>
                <a:cs typeface="Calibri" pitchFamily="34" charset="-120"/>
              </a:rPr>
              <a:t>Recommandation : construire cette partie derrière une interface qui isole le mécanisme de diffusion. Le jour où un accord opérateur aboutit, il s'ajoute sans rien réécrire.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Risque business identifié</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Ce point relève de Call Com — il est signalé car il dimensionne la technique</a:t>
            </a:r>
            <a:endParaRPr lang="en-US" sz="1500" dirty="0"/>
          </a:p>
        </p:txBody>
      </p:sp>
      <p:sp>
        <p:nvSpPr>
          <p:cNvPr id="4" name="Shape 2"/>
          <p:cNvSpPr/>
          <p:nvPr/>
        </p:nvSpPr>
        <p:spPr>
          <a:xfrm>
            <a:off x="640080" y="1645920"/>
            <a:ext cx="10881360" cy="1188720"/>
          </a:xfrm>
          <a:prstGeom prst="roundRect">
            <a:avLst>
              <a:gd name="adj" fmla="val 4615"/>
            </a:avLst>
          </a:prstGeom>
          <a:solidFill>
            <a:srgbClr val="FBF4E4"/>
          </a:solidFill>
          <a:ln w="12700">
            <a:solidFill>
              <a:srgbClr val="B8860B"/>
            </a:solidFill>
            <a:prstDash val="solid"/>
          </a:ln>
        </p:spPr>
      </p:sp>
      <p:sp>
        <p:nvSpPr>
          <p:cNvPr id="5" name="Shape 3"/>
          <p:cNvSpPr/>
          <p:nvPr/>
        </p:nvSpPr>
        <p:spPr>
          <a:xfrm>
            <a:off x="914400" y="1993392"/>
            <a:ext cx="475488" cy="475488"/>
          </a:xfrm>
          <a:prstGeom prst="ellipse">
            <a:avLst/>
          </a:prstGeom>
          <a:solidFill>
            <a:srgbClr val="B8860B"/>
          </a:solidFill>
          <a:ln/>
        </p:spPr>
      </p:sp>
      <p:sp>
        <p:nvSpPr>
          <p:cNvPr id="6" name="Text 4"/>
          <p:cNvSpPr txBox="1"/>
          <p:nvPr/>
        </p:nvSpPr>
        <p:spPr>
          <a:xfrm>
            <a:off x="914400" y="199339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600200" y="1810512"/>
            <a:ext cx="9692640" cy="868680"/>
          </a:xfrm>
          <a:prstGeom prst="rect">
            <a:avLst/>
          </a:prstGeom>
          <a:noFill/>
          <a:ln/>
        </p:spPr>
        <p:txBody>
          <a:bodyPr wrap="square" lIns="0" tIns="0" rIns="0" bIns="0" rtlCol="0" anchor="ctr"/>
          <a:lstStyle/>
          <a:p>
            <a:pPr indent="0" marL="0">
              <a:lnSpc>
                <a:spcPts val="1800"/>
              </a:lnSpc>
              <a:buNone/>
            </a:pPr>
            <a:r>
              <a:rPr lang="en-US" sz="1350" dirty="0">
                <a:solidFill>
                  <a:srgbClr val="1A1F36"/>
                </a:solidFill>
                <a:latin typeface="Calibri" pitchFamily="34" charset="0"/>
                <a:ea typeface="Calibri" pitchFamily="34" charset="-122"/>
                <a:cs typeface="Calibri" pitchFamily="34" charset="-120"/>
              </a:rPr>
              <a:t>Des précédents internationaux de modèles télécom financés par la publicité montrent que la viabilité économique dépend fortement de la capacité à vendre suffisamment d'inventaire publicitaire. Ce point doit être validé par Call Com auprès d'annonceurs réels.</a:t>
            </a:r>
            <a:endParaRPr lang="en-US" sz="1350" dirty="0"/>
          </a:p>
        </p:txBody>
      </p:sp>
      <p:sp>
        <p:nvSpPr>
          <p:cNvPr id="8" name="Shape 6"/>
          <p:cNvSpPr/>
          <p:nvPr/>
        </p:nvSpPr>
        <p:spPr>
          <a:xfrm>
            <a:off x="640080" y="3063240"/>
            <a:ext cx="5349240" cy="1920240"/>
          </a:xfrm>
          <a:prstGeom prst="roundRect">
            <a:avLst>
              <a:gd name="adj" fmla="val 2857"/>
            </a:avLst>
          </a:prstGeom>
          <a:solidFill>
            <a:srgbClr val="FFFFFF"/>
          </a:solidFill>
          <a:ln w="12700">
            <a:solidFill>
              <a:srgbClr val="DCE4F0"/>
            </a:solidFill>
            <a:prstDash val="solid"/>
          </a:ln>
        </p:spPr>
      </p:sp>
      <p:sp>
        <p:nvSpPr>
          <p:cNvPr id="9" name="Text 7"/>
          <p:cNvSpPr txBox="1"/>
          <p:nvPr/>
        </p:nvSpPr>
        <p:spPr>
          <a:xfrm>
            <a:off x="896112" y="3218688"/>
            <a:ext cx="320040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Blyk</a:t>
            </a:r>
            <a:endParaRPr lang="en-US" sz="1900" dirty="0"/>
          </a:p>
        </p:txBody>
      </p:sp>
      <p:sp>
        <p:nvSpPr>
          <p:cNvPr id="10" name="Text 8"/>
          <p:cNvSpPr txBox="1"/>
          <p:nvPr/>
        </p:nvSpPr>
        <p:spPr>
          <a:xfrm>
            <a:off x="896112" y="3584448"/>
            <a:ext cx="3200400" cy="25603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Royaume-Uni</a:t>
            </a:r>
            <a:endParaRPr lang="en-US" sz="1100" dirty="0"/>
          </a:p>
        </p:txBody>
      </p:sp>
      <p:sp>
        <p:nvSpPr>
          <p:cNvPr id="11" name="Text 9"/>
          <p:cNvSpPr txBox="1"/>
          <p:nvPr/>
        </p:nvSpPr>
        <p:spPr>
          <a:xfrm>
            <a:off x="896112" y="3913632"/>
            <a:ext cx="4846320" cy="96012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Appels et SMS gratuits financés par la publicité. Service arrêté. Le diagnostic public pointe un manque de couverture pour intéresser les annonceurs, et des annonceurs davantage attirés par l'étude de marché que par la campagne de marque.</a:t>
            </a:r>
            <a:endParaRPr lang="en-US" sz="1100" dirty="0"/>
          </a:p>
        </p:txBody>
      </p:sp>
      <p:sp>
        <p:nvSpPr>
          <p:cNvPr id="12" name="Shape 10"/>
          <p:cNvSpPr/>
          <p:nvPr/>
        </p:nvSpPr>
        <p:spPr>
          <a:xfrm>
            <a:off x="6172200" y="3063240"/>
            <a:ext cx="5349240" cy="1920240"/>
          </a:xfrm>
          <a:prstGeom prst="roundRect">
            <a:avLst>
              <a:gd name="adj" fmla="val 2857"/>
            </a:avLst>
          </a:prstGeom>
          <a:solidFill>
            <a:srgbClr val="FFFFFF"/>
          </a:solidFill>
          <a:ln w="12700">
            <a:solidFill>
              <a:srgbClr val="DCE4F0"/>
            </a:solidFill>
            <a:prstDash val="solid"/>
          </a:ln>
        </p:spPr>
      </p:sp>
      <p:sp>
        <p:nvSpPr>
          <p:cNvPr id="13" name="Text 11"/>
          <p:cNvSpPr txBox="1"/>
          <p:nvPr/>
        </p:nvSpPr>
        <p:spPr>
          <a:xfrm>
            <a:off x="6428232" y="3218688"/>
            <a:ext cx="320040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RingPlus</a:t>
            </a:r>
            <a:endParaRPr lang="en-US" sz="1900" dirty="0"/>
          </a:p>
        </p:txBody>
      </p:sp>
      <p:sp>
        <p:nvSpPr>
          <p:cNvPr id="14" name="Text 12"/>
          <p:cNvSpPr txBox="1"/>
          <p:nvPr/>
        </p:nvSpPr>
        <p:spPr>
          <a:xfrm>
            <a:off x="6428232" y="3584448"/>
            <a:ext cx="3200400" cy="256032"/>
          </a:xfrm>
          <a:prstGeom prst="rect">
            <a:avLst/>
          </a:prstGeom>
          <a:noFill/>
          <a:ln/>
        </p:spPr>
        <p:txBody>
          <a:bodyPr wrap="square" lIns="0" tIns="0" rIns="0" bIns="0" rtlCol="0" anchor="ctr"/>
          <a:lstStyle/>
          <a:p>
            <a:pPr indent="0" marL="0">
              <a:buNone/>
            </a:pPr>
            <a:r>
              <a:rPr lang="en-US" sz="1100" dirty="0">
                <a:solidFill>
                  <a:srgbClr val="5A6480"/>
                </a:solidFill>
                <a:latin typeface="Calibri" pitchFamily="34" charset="0"/>
                <a:ea typeface="Calibri" pitchFamily="34" charset="-122"/>
                <a:cs typeface="Calibri" pitchFamily="34" charset="-120"/>
              </a:rPr>
              <a:t>États-Unis</a:t>
            </a:r>
            <a:endParaRPr lang="en-US" sz="1100" dirty="0"/>
          </a:p>
        </p:txBody>
      </p:sp>
      <p:sp>
        <p:nvSpPr>
          <p:cNvPr id="15" name="Text 13"/>
          <p:cNvSpPr txBox="1"/>
          <p:nvPr/>
        </p:nvSpPr>
        <p:spPr>
          <a:xfrm>
            <a:off x="6428232" y="3913632"/>
            <a:ext cx="4846320" cy="96012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Diffusait des annonces après la numérotation et avant la connexion, pour financer des forfaits gratuits — un mécanisme très proche. Offres gratuites réduites puis supprimées ; fermeture en 2017, faute d'annonceurs suffisants par zone.</a:t>
            </a:r>
            <a:endParaRPr lang="en-US" sz="1100" dirty="0"/>
          </a:p>
        </p:txBody>
      </p:sp>
      <p:sp>
        <p:nvSpPr>
          <p:cNvPr id="16" name="Shape 14"/>
          <p:cNvSpPr/>
          <p:nvPr/>
        </p:nvSpPr>
        <p:spPr>
          <a:xfrm>
            <a:off x="640080" y="5193792"/>
            <a:ext cx="10881360" cy="1143000"/>
          </a:xfrm>
          <a:prstGeom prst="roundRect">
            <a:avLst>
              <a:gd name="adj" fmla="val 4800"/>
            </a:avLst>
          </a:prstGeom>
          <a:solidFill>
            <a:srgbClr val="E7EDF7"/>
          </a:solidFill>
          <a:ln/>
        </p:spPr>
      </p:sp>
      <p:sp>
        <p:nvSpPr>
          <p:cNvPr id="17" name="Text 15"/>
          <p:cNvSpPr txBox="1"/>
          <p:nvPr/>
        </p:nvSpPr>
        <p:spPr>
          <a:xfrm>
            <a:off x="914400" y="5321808"/>
            <a:ext cx="4572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Ce que cela implique concrètement</a:t>
            </a:r>
            <a:endParaRPr lang="en-US" sz="1300" dirty="0"/>
          </a:p>
        </p:txBody>
      </p:sp>
      <p:sp>
        <p:nvSpPr>
          <p:cNvPr id="18" name="Text 16"/>
          <p:cNvSpPr txBox="1"/>
          <p:nvPr/>
        </p:nvSpPr>
        <p:spPr>
          <a:xfrm>
            <a:off x="914400" y="5596128"/>
            <a:ext cx="10332720" cy="658368"/>
          </a:xfrm>
          <a:prstGeom prst="rect">
            <a:avLst/>
          </a:prstGeom>
          <a:noFill/>
          <a:ln/>
        </p:spPr>
        <p:txBody>
          <a:bodyPr wrap="square" lIns="0" tIns="0" rIns="0" bIns="0" rtlCol="0" anchor="ctr"/>
          <a:lstStyle/>
          <a:p>
            <a:pPr indent="0" marL="0">
              <a:lnSpc>
                <a:spcPts val="1500"/>
              </a:lnSpc>
              <a:buNone/>
            </a:pPr>
            <a:r>
              <a:rPr lang="en-US" sz="1150" dirty="0">
                <a:solidFill>
                  <a:srgbClr val="1A1F36"/>
                </a:solidFill>
                <a:latin typeface="Calibri" pitchFamily="34" charset="0"/>
                <a:ea typeface="Calibri" pitchFamily="34" charset="-122"/>
                <a:cs typeface="Calibri" pitchFamily="34" charset="-120"/>
              </a:rPr>
              <a:t>Ni Blyk ni RingPlus n'ont échoué pour des raisons techniques. Avant d'investir dans le développement, il serait prudent d'obtenir de quelques annonceurs tunisiens un prix écrit qu'ils accepteraient de payer. C'est le paramètre dont dépend tout le reste — y compris le barème du §8.4.</a:t>
            </a:r>
            <a:endParaRPr lang="en-US" sz="1150" dirty="0"/>
          </a:p>
        </p:txBody>
      </p:sp>
      <p:sp>
        <p:nvSpPr>
          <p:cNvPr id="19" name="Text 17"/>
          <p:cNvSpPr txBox="1"/>
          <p:nvPr/>
        </p:nvSpPr>
        <p:spPr>
          <a:xfrm>
            <a:off x="640080" y="6382512"/>
            <a:ext cx="10972800" cy="274320"/>
          </a:xfrm>
          <a:prstGeom prst="rect">
            <a:avLst/>
          </a:prstGeom>
          <a:noFill/>
          <a:ln/>
        </p:spPr>
        <p:txBody>
          <a:bodyPr wrap="square" lIns="0" tIns="0" rIns="0" bIns="0" rtlCol="0" anchor="ctr"/>
          <a:lstStyle/>
          <a:p>
            <a:pPr indent="0" marL="0">
              <a:buNone/>
            </a:pPr>
            <a:r>
              <a:rPr lang="en-US" sz="950" dirty="0">
                <a:solidFill>
                  <a:srgbClr val="95A0B8"/>
                </a:solidFill>
                <a:latin typeface="Calibri" pitchFamily="34" charset="0"/>
                <a:ea typeface="Calibri" pitchFamily="34" charset="-122"/>
                <a:cs typeface="Calibri" pitchFamily="34" charset="-120"/>
              </a:rPr>
              <a:t>Sources : Telecoms.com (Blyk) · Clark.com et Android Headlines (RingPlus)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 barème du §8.4, chiffré</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Marge dégagée selon le prix payé par l'annonceur — hypothèse de coût de gros à confirmer</a:t>
            </a:r>
            <a:endParaRPr lang="en-US" sz="1500" dirty="0"/>
          </a:p>
        </p:txBody>
      </p:sp>
      <p:graphicFrame>
        <p:nvGraphicFramePr>
          <p:cNvPr id="4" name="Chart 0" descr=""/>
          <p:cNvGraphicFramePr/>
          <p:nvPr/>
        </p:nvGraphicFramePr>
        <p:xfrm>
          <a:off x="640080" y="1600200"/>
          <a:ext cx="7223760" cy="3794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600200"/>
            <a:ext cx="3429000" cy="3794760"/>
          </a:xfrm>
          <a:prstGeom prst="roundRect">
            <a:avLst>
              <a:gd name="adj" fmla="val 1600"/>
            </a:avLst>
          </a:prstGeom>
          <a:solidFill>
            <a:srgbClr val="F2F5FA"/>
          </a:solidFill>
          <a:ln/>
        </p:spPr>
      </p:sp>
      <p:sp>
        <p:nvSpPr>
          <p:cNvPr id="6" name="Text 3"/>
          <p:cNvSpPr txBox="1"/>
          <p:nvPr/>
        </p:nvSpPr>
        <p:spPr>
          <a:xfrm>
            <a:off x="8321040" y="1783080"/>
            <a:ext cx="297180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Comment le lire</a:t>
            </a:r>
            <a:endParaRPr lang="en-US" sz="1400" dirty="0"/>
          </a:p>
        </p:txBody>
      </p:sp>
      <p:sp>
        <p:nvSpPr>
          <p:cNvPr id="7" name="Shape 4"/>
          <p:cNvSpPr/>
          <p:nvPr/>
        </p:nvSpPr>
        <p:spPr>
          <a:xfrm>
            <a:off x="8321040" y="2267712"/>
            <a:ext cx="146304" cy="146304"/>
          </a:xfrm>
          <a:prstGeom prst="ellipse">
            <a:avLst/>
          </a:prstGeom>
          <a:solidFill>
            <a:srgbClr val="3A5F94"/>
          </a:solidFill>
          <a:ln/>
        </p:spPr>
      </p:sp>
      <p:sp>
        <p:nvSpPr>
          <p:cNvPr id="8" name="Text 5"/>
          <p:cNvSpPr txBox="1"/>
          <p:nvPr/>
        </p:nvSpPr>
        <p:spPr>
          <a:xfrm>
            <a:off x="8595360" y="2194560"/>
            <a:ext cx="2697480" cy="960120"/>
          </a:xfrm>
          <a:prstGeom prst="rect">
            <a:avLst/>
          </a:prstGeom>
          <a:noFill/>
          <a:ln/>
        </p:spPr>
        <p:txBody>
          <a:bodyPr wrap="square" lIns="0" tIns="0" rIns="0" bIns="0" rtlCol="0" anchor="ctr"/>
          <a:lstStyle/>
          <a:p>
            <a:pPr indent="0" marL="0">
              <a:lnSpc>
                <a:spcPts val="1400"/>
              </a:lnSpc>
              <a:buNone/>
            </a:pPr>
            <a:r>
              <a:rPr lang="en-US" sz="1050" dirty="0">
                <a:solidFill>
                  <a:srgbClr val="1A1F36"/>
                </a:solidFill>
                <a:latin typeface="Calibri" pitchFamily="34" charset="0"/>
                <a:ea typeface="Calibri" pitchFamily="34" charset="-122"/>
                <a:cs typeface="Calibri" pitchFamily="34" charset="-120"/>
              </a:rPr>
              <a:t>Le barème de la spécification est prudent et défendable : il devient rentable dès 12 TND pour mille diffusions sur les paliers en gigaoctets.</a:t>
            </a:r>
            <a:endParaRPr lang="en-US" sz="1050" dirty="0"/>
          </a:p>
        </p:txBody>
      </p:sp>
      <p:sp>
        <p:nvSpPr>
          <p:cNvPr id="9" name="Shape 6"/>
          <p:cNvSpPr/>
          <p:nvPr/>
        </p:nvSpPr>
        <p:spPr>
          <a:xfrm>
            <a:off x="8321040" y="3300984"/>
            <a:ext cx="146304" cy="146304"/>
          </a:xfrm>
          <a:prstGeom prst="ellipse">
            <a:avLst/>
          </a:prstGeom>
          <a:solidFill>
            <a:srgbClr val="3A5F94"/>
          </a:solidFill>
          <a:ln/>
        </p:spPr>
      </p:sp>
      <p:sp>
        <p:nvSpPr>
          <p:cNvPr id="10" name="Text 7"/>
          <p:cNvSpPr txBox="1"/>
          <p:nvPr/>
        </p:nvSpPr>
        <p:spPr>
          <a:xfrm>
            <a:off x="8595360" y="3227832"/>
            <a:ext cx="2697480" cy="960120"/>
          </a:xfrm>
          <a:prstGeom prst="rect">
            <a:avLst/>
          </a:prstGeom>
          <a:noFill/>
          <a:ln/>
        </p:spPr>
        <p:txBody>
          <a:bodyPr wrap="square" lIns="0" tIns="0" rIns="0" bIns="0" rtlCol="0" anchor="ctr"/>
          <a:lstStyle/>
          <a:p>
            <a:pPr indent="0" marL="0">
              <a:lnSpc>
                <a:spcPts val="1400"/>
              </a:lnSpc>
              <a:buNone/>
            </a:pPr>
            <a:r>
              <a:rPr lang="en-US" sz="1050" dirty="0">
                <a:solidFill>
                  <a:srgbClr val="1A1F36"/>
                </a:solidFill>
                <a:latin typeface="Calibri" pitchFamily="34" charset="0"/>
                <a:ea typeface="Calibri" pitchFamily="34" charset="-122"/>
                <a:cs typeface="Calibri" pitchFamily="34" charset="-120"/>
              </a:rPr>
              <a:t>Le palier en crédit téléphonique est le plus robuste : il reste rentable même à 5 TND. Le §8.3 prévoit déjà cette option.</a:t>
            </a:r>
            <a:endParaRPr lang="en-US" sz="1050" dirty="0"/>
          </a:p>
        </p:txBody>
      </p:sp>
      <p:sp>
        <p:nvSpPr>
          <p:cNvPr id="11" name="Shape 8"/>
          <p:cNvSpPr/>
          <p:nvPr/>
        </p:nvSpPr>
        <p:spPr>
          <a:xfrm>
            <a:off x="8321040" y="4334256"/>
            <a:ext cx="146304" cy="146304"/>
          </a:xfrm>
          <a:prstGeom prst="ellipse">
            <a:avLst/>
          </a:prstGeom>
          <a:solidFill>
            <a:srgbClr val="3A5F94"/>
          </a:solidFill>
          <a:ln/>
        </p:spPr>
      </p:sp>
      <p:sp>
        <p:nvSpPr>
          <p:cNvPr id="12" name="Text 9"/>
          <p:cNvSpPr txBox="1"/>
          <p:nvPr/>
        </p:nvSpPr>
        <p:spPr>
          <a:xfrm>
            <a:off x="8595360" y="4261104"/>
            <a:ext cx="2697480" cy="960120"/>
          </a:xfrm>
          <a:prstGeom prst="rect">
            <a:avLst/>
          </a:prstGeom>
          <a:noFill/>
          <a:ln/>
        </p:spPr>
        <p:txBody>
          <a:bodyPr wrap="square" lIns="0" tIns="0" rIns="0" bIns="0" rtlCol="0" anchor="ctr"/>
          <a:lstStyle/>
          <a:p>
            <a:pPr indent="0" marL="0">
              <a:lnSpc>
                <a:spcPts val="1400"/>
              </a:lnSpc>
              <a:buNone/>
            </a:pPr>
            <a:r>
              <a:rPr lang="en-US" sz="1050" dirty="0">
                <a:solidFill>
                  <a:srgbClr val="1A1F36"/>
                </a:solidFill>
                <a:latin typeface="Calibri" pitchFamily="34" charset="0"/>
                <a:ea typeface="Calibri" pitchFamily="34" charset="-122"/>
                <a:cs typeface="Calibri" pitchFamily="34" charset="-120"/>
              </a:rPr>
              <a:t>Si le prix réellement accepté par les annonceurs s'avère bas, privilégier le crédit et les minutes plutôt que la data.</a:t>
            </a:r>
            <a:endParaRPr lang="en-US" sz="1050" dirty="0"/>
          </a:p>
        </p:txBody>
      </p:sp>
      <p:sp>
        <p:nvSpPr>
          <p:cNvPr id="13" name="Text 10"/>
          <p:cNvSpPr txBox="1"/>
          <p:nvPr/>
        </p:nvSpPr>
        <p:spPr>
          <a:xfrm>
            <a:off x="640080" y="6382512"/>
            <a:ext cx="10972800" cy="274320"/>
          </a:xfrm>
          <a:prstGeom prst="rect">
            <a:avLst/>
          </a:prstGeom>
          <a:noFill/>
          <a:ln/>
        </p:spPr>
        <p:txBody>
          <a:bodyPr wrap="square" lIns="0" tIns="0" rIns="0" bIns="0" rtlCol="0" anchor="ctr"/>
          <a:lstStyle/>
          <a:p>
            <a:pPr indent="0" marL="0">
              <a:buNone/>
            </a:pPr>
            <a:r>
              <a:rPr lang="en-US" sz="950" dirty="0">
                <a:solidFill>
                  <a:srgbClr val="95A0B8"/>
                </a:solidFill>
                <a:latin typeface="Calibri" pitchFamily="34" charset="0"/>
                <a:ea typeface="Calibri" pitchFamily="34" charset="-122"/>
                <a:cs typeface="Calibri" pitchFamily="34" charset="-120"/>
              </a:rPr>
              <a:t>Hypothèse : coût de gros de la data à 3 millimes par mégaoctet, et coût des récompenses limité à la moitié du revenu publicitaire. Les deux valeurs doivent être confirmées par Call Com.</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Trois contraintes à anticiper</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Elles ne bloquent pas le projet, mais elles prennent du temps</a:t>
            </a:r>
            <a:endParaRPr lang="en-US" sz="1500" dirty="0"/>
          </a:p>
        </p:txBody>
      </p:sp>
      <p:sp>
        <p:nvSpPr>
          <p:cNvPr id="4" name="Shape 2"/>
          <p:cNvSpPr/>
          <p:nvPr/>
        </p:nvSpPr>
        <p:spPr>
          <a:xfrm>
            <a:off x="640080" y="1691640"/>
            <a:ext cx="3383280" cy="3657600"/>
          </a:xfrm>
          <a:prstGeom prst="roundRect">
            <a:avLst>
              <a:gd name="adj" fmla="val 1622"/>
            </a:avLst>
          </a:prstGeom>
          <a:solidFill>
            <a:srgbClr val="F2F5FA"/>
          </a:solidFill>
          <a:ln/>
        </p:spPr>
      </p:sp>
      <p:sp>
        <p:nvSpPr>
          <p:cNvPr id="5" name="Shape 3"/>
          <p:cNvSpPr/>
          <p:nvPr/>
        </p:nvSpPr>
        <p:spPr>
          <a:xfrm>
            <a:off x="896112" y="1920240"/>
            <a:ext cx="457200" cy="457200"/>
          </a:xfrm>
          <a:prstGeom prst="ellipse">
            <a:avLst/>
          </a:prstGeom>
          <a:solidFill>
            <a:srgbClr val="1E2761"/>
          </a:solidFill>
          <a:ln/>
        </p:spPr>
      </p:sp>
      <p:sp>
        <p:nvSpPr>
          <p:cNvPr id="6" name="Text 4"/>
          <p:cNvSpPr txBox="1"/>
          <p:nvPr/>
        </p:nvSpPr>
        <p:spPr>
          <a:xfrm>
            <a:off x="896112"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96112" y="2514600"/>
            <a:ext cx="2871216" cy="640080"/>
          </a:xfrm>
          <a:prstGeom prst="rect">
            <a:avLst/>
          </a:prstGeom>
          <a:noFill/>
          <a:ln/>
        </p:spPr>
        <p:txBody>
          <a:bodyPr wrap="square" lIns="0" tIns="0" rIns="0" bIns="0" rtlCol="0" anchor="ctr"/>
          <a:lstStyle/>
          <a:p>
            <a:pPr indent="0" marL="0">
              <a:lnSpc>
                <a:spcPts val="2000"/>
              </a:lnSpc>
              <a:buNone/>
            </a:pPr>
            <a:r>
              <a:rPr lang="en-US" sz="1600" b="1" dirty="0">
                <a:solidFill>
                  <a:srgbClr val="1E2761"/>
                </a:solidFill>
                <a:latin typeface="Cambria" pitchFamily="34" charset="0"/>
                <a:ea typeface="Cambria" pitchFamily="34" charset="-122"/>
                <a:cs typeface="Cambria" pitchFamily="34" charset="-120"/>
              </a:rPr>
              <a:t>Données personnelles</a:t>
            </a:r>
            <a:endParaRPr lang="en-US" sz="1600" dirty="0"/>
          </a:p>
        </p:txBody>
      </p:sp>
      <p:sp>
        <p:nvSpPr>
          <p:cNvPr id="8" name="Text 6"/>
          <p:cNvSpPr txBox="1"/>
          <p:nvPr/>
        </p:nvSpPr>
        <p:spPr>
          <a:xfrm>
            <a:off x="896112" y="3200400"/>
            <a:ext cx="2871216" cy="146304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Le service traite des numéros de téléphone. Une déclaration auprès de l'instance nationale de protection des données est requise. Et comme l'hébergement envisagé est à l'étranger, une autorisation préalable de transfert est également nécessaire.</a:t>
            </a:r>
            <a:endParaRPr lang="en-US" sz="1100" dirty="0"/>
          </a:p>
        </p:txBody>
      </p:sp>
      <p:sp>
        <p:nvSpPr>
          <p:cNvPr id="9" name="Shape 7"/>
          <p:cNvSpPr/>
          <p:nvPr/>
        </p:nvSpPr>
        <p:spPr>
          <a:xfrm>
            <a:off x="896112" y="4663440"/>
            <a:ext cx="2871216" cy="548640"/>
          </a:xfrm>
          <a:prstGeom prst="roundRect">
            <a:avLst>
              <a:gd name="adj" fmla="val 10000"/>
            </a:avLst>
          </a:prstGeom>
          <a:solidFill>
            <a:srgbClr val="E7EDF7"/>
          </a:solidFill>
          <a:ln/>
        </p:spPr>
      </p:sp>
      <p:sp>
        <p:nvSpPr>
          <p:cNvPr id="10" name="Text 8"/>
          <p:cNvSpPr txBox="1"/>
          <p:nvPr/>
        </p:nvSpPr>
        <p:spPr>
          <a:xfrm>
            <a:off x="1024128" y="4736592"/>
            <a:ext cx="2615184" cy="411480"/>
          </a:xfrm>
          <a:prstGeom prst="rect">
            <a:avLst/>
          </a:prstGeom>
          <a:noFill/>
          <a:ln/>
        </p:spPr>
        <p:txBody>
          <a:bodyPr wrap="square" lIns="0" tIns="0" rIns="0" bIns="0" rtlCol="0" anchor="ctr"/>
          <a:lstStyle/>
          <a:p>
            <a:pPr indent="0" marL="0">
              <a:lnSpc>
                <a:spcPts val="1200"/>
              </a:lnSpc>
              <a:buNone/>
            </a:pPr>
            <a:r>
              <a:rPr lang="en-US" sz="950" b="1" dirty="0">
                <a:solidFill>
                  <a:srgbClr val="1E2761"/>
                </a:solidFill>
                <a:latin typeface="Calibri" pitchFamily="34" charset="0"/>
                <a:ea typeface="Calibri" pitchFamily="34" charset="-122"/>
                <a:cs typeface="Calibri" pitchFamily="34" charset="-120"/>
              </a:rPr>
              <a:t>À engager dès maintenant — le délai est administratif</a:t>
            </a:r>
            <a:endParaRPr lang="en-US" sz="950" dirty="0"/>
          </a:p>
        </p:txBody>
      </p:sp>
      <p:sp>
        <p:nvSpPr>
          <p:cNvPr id="11" name="Shape 9"/>
          <p:cNvSpPr/>
          <p:nvPr/>
        </p:nvSpPr>
        <p:spPr>
          <a:xfrm>
            <a:off x="4297680" y="1691640"/>
            <a:ext cx="3383280" cy="3657600"/>
          </a:xfrm>
          <a:prstGeom prst="roundRect">
            <a:avLst>
              <a:gd name="adj" fmla="val 1622"/>
            </a:avLst>
          </a:prstGeom>
          <a:solidFill>
            <a:srgbClr val="FFFFFF"/>
          </a:solidFill>
          <a:ln w="12700">
            <a:solidFill>
              <a:srgbClr val="DCE4F0"/>
            </a:solidFill>
            <a:prstDash val="solid"/>
          </a:ln>
        </p:spPr>
      </p:sp>
      <p:sp>
        <p:nvSpPr>
          <p:cNvPr id="12" name="Shape 10"/>
          <p:cNvSpPr/>
          <p:nvPr/>
        </p:nvSpPr>
        <p:spPr>
          <a:xfrm>
            <a:off x="4553712" y="1920240"/>
            <a:ext cx="457200" cy="457200"/>
          </a:xfrm>
          <a:prstGeom prst="ellipse">
            <a:avLst/>
          </a:prstGeom>
          <a:solidFill>
            <a:srgbClr val="1E2761"/>
          </a:solidFill>
          <a:ln/>
        </p:spPr>
      </p:sp>
      <p:sp>
        <p:nvSpPr>
          <p:cNvPr id="13" name="Text 11"/>
          <p:cNvSpPr txBox="1"/>
          <p:nvPr/>
        </p:nvSpPr>
        <p:spPr>
          <a:xfrm>
            <a:off x="4553712"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53712" y="2514600"/>
            <a:ext cx="2871216" cy="640080"/>
          </a:xfrm>
          <a:prstGeom prst="rect">
            <a:avLst/>
          </a:prstGeom>
          <a:noFill/>
          <a:ln/>
        </p:spPr>
        <p:txBody>
          <a:bodyPr wrap="square" lIns="0" tIns="0" rIns="0" bIns="0" rtlCol="0" anchor="ctr"/>
          <a:lstStyle/>
          <a:p>
            <a:pPr indent="0" marL="0">
              <a:lnSpc>
                <a:spcPts val="2000"/>
              </a:lnSpc>
              <a:buNone/>
            </a:pPr>
            <a:r>
              <a:rPr lang="en-US" sz="1600" b="1" dirty="0">
                <a:solidFill>
                  <a:srgbClr val="1E2761"/>
                </a:solidFill>
                <a:latin typeface="Cambria" pitchFamily="34" charset="0"/>
                <a:ea typeface="Cambria" pitchFamily="34" charset="-122"/>
                <a:cs typeface="Cambria" pitchFamily="34" charset="-120"/>
              </a:rPr>
              <a:t>Le consentement de l'appelant</a:t>
            </a:r>
            <a:endParaRPr lang="en-US" sz="1600" dirty="0"/>
          </a:p>
        </p:txBody>
      </p:sp>
      <p:sp>
        <p:nvSpPr>
          <p:cNvPr id="15" name="Text 13"/>
          <p:cNvSpPr txBox="1"/>
          <p:nvPr/>
        </p:nvSpPr>
        <p:spPr>
          <a:xfrm>
            <a:off x="4553712" y="3200400"/>
            <a:ext cx="2871216" cy="146304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Le §14 prévoit à juste titre le consentement de l'utilisateur. Mais la personne qui entend la publicité est l'appelant, qui n'a rien accepté et ne reçoit aucune unité. Ce point n'est pas traité par la spécification.</a:t>
            </a:r>
            <a:endParaRPr lang="en-US" sz="1100" dirty="0"/>
          </a:p>
        </p:txBody>
      </p:sp>
      <p:sp>
        <p:nvSpPr>
          <p:cNvPr id="16" name="Shape 14"/>
          <p:cNvSpPr/>
          <p:nvPr/>
        </p:nvSpPr>
        <p:spPr>
          <a:xfrm>
            <a:off x="4553712" y="4663440"/>
            <a:ext cx="2871216" cy="548640"/>
          </a:xfrm>
          <a:prstGeom prst="roundRect">
            <a:avLst>
              <a:gd name="adj" fmla="val 10000"/>
            </a:avLst>
          </a:prstGeom>
          <a:solidFill>
            <a:srgbClr val="E7EDF7"/>
          </a:solidFill>
          <a:ln/>
        </p:spPr>
      </p:sp>
      <p:sp>
        <p:nvSpPr>
          <p:cNvPr id="17" name="Text 15"/>
          <p:cNvSpPr txBox="1"/>
          <p:nvPr/>
        </p:nvSpPr>
        <p:spPr>
          <a:xfrm>
            <a:off x="4681728" y="4736592"/>
            <a:ext cx="2615184" cy="411480"/>
          </a:xfrm>
          <a:prstGeom prst="rect">
            <a:avLst/>
          </a:prstGeom>
          <a:noFill/>
          <a:ln/>
        </p:spPr>
        <p:txBody>
          <a:bodyPr wrap="square" lIns="0" tIns="0" rIns="0" bIns="0" rtlCol="0" anchor="ctr"/>
          <a:lstStyle/>
          <a:p>
            <a:pPr indent="0" marL="0">
              <a:lnSpc>
                <a:spcPts val="1200"/>
              </a:lnSpc>
              <a:buNone/>
            </a:pPr>
            <a:r>
              <a:rPr lang="en-US" sz="950" b="1" dirty="0">
                <a:solidFill>
                  <a:srgbClr val="1E2761"/>
                </a:solidFill>
                <a:latin typeface="Calibri" pitchFamily="34" charset="0"/>
                <a:ea typeface="Calibri" pitchFamily="34" charset="-122"/>
                <a:cs typeface="Calibri" pitchFamily="34" charset="-120"/>
              </a:rPr>
              <a:t>Voie A : porté par l'opérateur. Voie B : à faire qualifier</a:t>
            </a:r>
            <a:endParaRPr lang="en-US" sz="950" dirty="0"/>
          </a:p>
        </p:txBody>
      </p:sp>
      <p:sp>
        <p:nvSpPr>
          <p:cNvPr id="18" name="Shape 16"/>
          <p:cNvSpPr/>
          <p:nvPr/>
        </p:nvSpPr>
        <p:spPr>
          <a:xfrm>
            <a:off x="7955280" y="1691640"/>
            <a:ext cx="3383280" cy="3657600"/>
          </a:xfrm>
          <a:prstGeom prst="roundRect">
            <a:avLst>
              <a:gd name="adj" fmla="val 1622"/>
            </a:avLst>
          </a:prstGeom>
          <a:solidFill>
            <a:srgbClr val="FFFFFF"/>
          </a:solidFill>
          <a:ln w="12700">
            <a:solidFill>
              <a:srgbClr val="DCE4F0"/>
            </a:solidFill>
            <a:prstDash val="solid"/>
          </a:ln>
        </p:spPr>
      </p:sp>
      <p:sp>
        <p:nvSpPr>
          <p:cNvPr id="19" name="Shape 17"/>
          <p:cNvSpPr/>
          <p:nvPr/>
        </p:nvSpPr>
        <p:spPr>
          <a:xfrm>
            <a:off x="8211312" y="1920240"/>
            <a:ext cx="457200" cy="457200"/>
          </a:xfrm>
          <a:prstGeom prst="ellipse">
            <a:avLst/>
          </a:prstGeom>
          <a:solidFill>
            <a:srgbClr val="1E2761"/>
          </a:solidFill>
          <a:ln/>
        </p:spPr>
      </p:sp>
      <p:sp>
        <p:nvSpPr>
          <p:cNvPr id="20" name="Text 18"/>
          <p:cNvSpPr txBox="1"/>
          <p:nvPr/>
        </p:nvSpPr>
        <p:spPr>
          <a:xfrm>
            <a:off x="8211312"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11312" y="2514600"/>
            <a:ext cx="2871216" cy="640080"/>
          </a:xfrm>
          <a:prstGeom prst="rect">
            <a:avLst/>
          </a:prstGeom>
          <a:noFill/>
          <a:ln/>
        </p:spPr>
        <p:txBody>
          <a:bodyPr wrap="square" lIns="0" tIns="0" rIns="0" bIns="0" rtlCol="0" anchor="ctr"/>
          <a:lstStyle/>
          <a:p>
            <a:pPr indent="0" marL="0">
              <a:lnSpc>
                <a:spcPts val="2000"/>
              </a:lnSpc>
              <a:buNone/>
            </a:pPr>
            <a:r>
              <a:rPr lang="en-US" sz="1600" b="1" dirty="0">
                <a:solidFill>
                  <a:srgbClr val="1E2761"/>
                </a:solidFill>
                <a:latin typeface="Cambria" pitchFamily="34" charset="0"/>
                <a:ea typeface="Cambria" pitchFamily="34" charset="-122"/>
                <a:cs typeface="Cambria" pitchFamily="34" charset="-120"/>
              </a:rPr>
              <a:t>Exploitation d'un service téléphonique</a:t>
            </a:r>
            <a:endParaRPr lang="en-US" sz="1600" dirty="0"/>
          </a:p>
        </p:txBody>
      </p:sp>
      <p:sp>
        <p:nvSpPr>
          <p:cNvPr id="22" name="Text 20"/>
          <p:cNvSpPr txBox="1"/>
          <p:nvPr/>
        </p:nvSpPr>
        <p:spPr>
          <a:xfrm>
            <a:off x="8211312" y="3200400"/>
            <a:ext cx="2871216" cy="146304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Dans la voie B, Call Com exploiterait de fait une plateforme de traitement d'appels. La qualification réglementaire doit être établie avant la mise en service.</a:t>
            </a:r>
            <a:endParaRPr lang="en-US" sz="1100" dirty="0"/>
          </a:p>
        </p:txBody>
      </p:sp>
      <p:sp>
        <p:nvSpPr>
          <p:cNvPr id="23" name="Shape 21"/>
          <p:cNvSpPr/>
          <p:nvPr/>
        </p:nvSpPr>
        <p:spPr>
          <a:xfrm>
            <a:off x="8211312" y="4663440"/>
            <a:ext cx="2871216" cy="548640"/>
          </a:xfrm>
          <a:prstGeom prst="roundRect">
            <a:avLst>
              <a:gd name="adj" fmla="val 10000"/>
            </a:avLst>
          </a:prstGeom>
          <a:solidFill>
            <a:srgbClr val="E7EDF7"/>
          </a:solidFill>
          <a:ln/>
        </p:spPr>
      </p:sp>
      <p:sp>
        <p:nvSpPr>
          <p:cNvPr id="24" name="Text 22"/>
          <p:cNvSpPr txBox="1"/>
          <p:nvPr/>
        </p:nvSpPr>
        <p:spPr>
          <a:xfrm>
            <a:off x="8339328" y="4736592"/>
            <a:ext cx="2615184" cy="411480"/>
          </a:xfrm>
          <a:prstGeom prst="rect">
            <a:avLst/>
          </a:prstGeom>
          <a:noFill/>
          <a:ln/>
        </p:spPr>
        <p:txBody>
          <a:bodyPr wrap="square" lIns="0" tIns="0" rIns="0" bIns="0" rtlCol="0" anchor="ctr"/>
          <a:lstStyle/>
          <a:p>
            <a:pPr indent="0" marL="0">
              <a:lnSpc>
                <a:spcPts val="1200"/>
              </a:lnSpc>
              <a:buNone/>
            </a:pPr>
            <a:r>
              <a:rPr lang="en-US" sz="950" b="1" dirty="0">
                <a:solidFill>
                  <a:srgbClr val="1E2761"/>
                </a:solidFill>
                <a:latin typeface="Calibri" pitchFamily="34" charset="0"/>
                <a:ea typeface="Calibri" pitchFamily="34" charset="-122"/>
                <a:cs typeface="Calibri" pitchFamily="34" charset="-120"/>
              </a:rPr>
              <a:t>Sans objet dans la voie A</a:t>
            </a:r>
            <a:endParaRPr lang="en-US" sz="950" dirty="0"/>
          </a:p>
        </p:txBody>
      </p:sp>
      <p:sp>
        <p:nvSpPr>
          <p:cNvPr id="25" name="Text 23"/>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Un accompagnement juridique local est nécessaire sur ces trois sujets. Ce n'est pas un travail d'ingénierie.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Ce que nous recommandons</a:t>
            </a:r>
            <a:endParaRPr lang="en-US" sz="32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indent="0" marL="0">
              <a:buNone/>
            </a:pPr>
            <a:r>
              <a:rPr lang="en-US" sz="1500" dirty="0">
                <a:solidFill>
                  <a:srgbClr val="5A6480"/>
                </a:solidFill>
                <a:latin typeface="Calibri" pitchFamily="34" charset="0"/>
                <a:ea typeface="Calibri" pitchFamily="34" charset="-122"/>
                <a:cs typeface="Calibri" pitchFamily="34" charset="-120"/>
              </a:rPr>
              <a:t>Réponse au §24 — le prototype technique préalable</a:t>
            </a:r>
            <a:endParaRPr lang="en-US" sz="1500" dirty="0"/>
          </a:p>
        </p:txBody>
      </p:sp>
      <p:sp>
        <p:nvSpPr>
          <p:cNvPr id="4" name="Shape 2"/>
          <p:cNvSpPr/>
          <p:nvPr/>
        </p:nvSpPr>
        <p:spPr>
          <a:xfrm>
            <a:off x="640080" y="1645920"/>
            <a:ext cx="10881360" cy="1325880"/>
          </a:xfrm>
          <a:prstGeom prst="roundRect">
            <a:avLst>
              <a:gd name="adj" fmla="val 4138"/>
            </a:avLst>
          </a:prstGeom>
          <a:solidFill>
            <a:srgbClr val="F2F5FA"/>
          </a:solidFill>
          <a:ln/>
        </p:spPr>
      </p:sp>
      <p:sp>
        <p:nvSpPr>
          <p:cNvPr id="5" name="Shape 3"/>
          <p:cNvSpPr/>
          <p:nvPr/>
        </p:nvSpPr>
        <p:spPr>
          <a:xfrm>
            <a:off x="914400" y="2084832"/>
            <a:ext cx="457200" cy="457200"/>
          </a:xfrm>
          <a:prstGeom prst="ellipse">
            <a:avLst/>
          </a:prstGeom>
          <a:solidFill>
            <a:srgbClr val="3A5F94"/>
          </a:solidFill>
          <a:ln/>
        </p:spPr>
      </p:sp>
      <p:sp>
        <p:nvSpPr>
          <p:cNvPr id="6" name="Text 4"/>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536192" y="1810512"/>
            <a:ext cx="3657600" cy="347472"/>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Clore la question applicative</a:t>
            </a:r>
            <a:endParaRPr lang="en-US" sz="1700" dirty="0"/>
          </a:p>
        </p:txBody>
      </p:sp>
      <p:sp>
        <p:nvSpPr>
          <p:cNvPr id="8" name="Text 6"/>
          <p:cNvSpPr txBox="1"/>
          <p:nvPr/>
        </p:nvSpPr>
        <p:spPr>
          <a:xfrm>
            <a:off x="1536192" y="2176272"/>
            <a:ext cx="3657600" cy="274320"/>
          </a:xfrm>
          <a:prstGeom prst="rect">
            <a:avLst/>
          </a:prstGeom>
          <a:noFill/>
          <a:ln/>
        </p:spPr>
        <p:txBody>
          <a:bodyPr wrap="square" lIns="0" tIns="0" rIns="0" bIns="0" rtlCol="0" anchor="ctr"/>
          <a:lstStyle/>
          <a:p>
            <a:pPr indent="0" marL="0">
              <a:buNone/>
            </a:pPr>
            <a:r>
              <a:rPr lang="en-US" sz="1150" b="1" dirty="0">
                <a:solidFill>
                  <a:srgbClr val="3A5F94"/>
                </a:solidFill>
                <a:latin typeface="Calibri" pitchFamily="34" charset="0"/>
                <a:ea typeface="Calibri" pitchFamily="34" charset="-122"/>
                <a:cs typeface="Calibri" pitchFamily="34" charset="-120"/>
              </a:rPr>
              <a:t>3 à 5 jours</a:t>
            </a:r>
            <a:endParaRPr lang="en-US" sz="1150" dirty="0"/>
          </a:p>
        </p:txBody>
      </p:sp>
      <p:sp>
        <p:nvSpPr>
          <p:cNvPr id="9" name="Text 7"/>
          <p:cNvSpPr txBox="1"/>
          <p:nvPr/>
        </p:nvSpPr>
        <p:spPr>
          <a:xfrm>
            <a:off x="5394960" y="1810512"/>
            <a:ext cx="3977640" cy="100584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Démontrer et documenter, sur plusieurs téléphones, qu'aucune application ne peut diffuser une annonce à l'appelant. Livrable : une note courte avec captures d'écran.</a:t>
            </a:r>
            <a:endParaRPr lang="en-US" sz="1100" dirty="0"/>
          </a:p>
        </p:txBody>
      </p:sp>
      <p:sp>
        <p:nvSpPr>
          <p:cNvPr id="10" name="Text 8"/>
          <p:cNvSpPr txBox="1"/>
          <p:nvPr/>
        </p:nvSpPr>
        <p:spPr>
          <a:xfrm>
            <a:off x="9601200" y="1810512"/>
            <a:ext cx="1737360" cy="1005840"/>
          </a:xfrm>
          <a:prstGeom prst="rect">
            <a:avLst/>
          </a:prstGeom>
          <a:noFill/>
          <a:ln/>
        </p:spPr>
        <p:txBody>
          <a:bodyPr wrap="square" lIns="0" tIns="0" rIns="0" bIns="0" rtlCol="0" anchor="ctr"/>
          <a:lstStyle/>
          <a:p>
            <a:pPr indent="0" marL="0">
              <a:lnSpc>
                <a:spcPts val="1300"/>
              </a:lnSpc>
              <a:buNone/>
            </a:pPr>
            <a:r>
              <a:rPr lang="en-US" sz="1000" i="1" dirty="0">
                <a:solidFill>
                  <a:srgbClr val="5A6480"/>
                </a:solidFill>
                <a:latin typeface="Calibri" pitchFamily="34" charset="0"/>
                <a:ea typeface="Calibri" pitchFamily="34" charset="-122"/>
                <a:cs typeface="Calibri" pitchFamily="34" charset="-120"/>
              </a:rPr>
              <a:t>Objectif : que la question ne revienne pas dans six mois.</a:t>
            </a:r>
            <a:endParaRPr lang="en-US" sz="1000" dirty="0"/>
          </a:p>
        </p:txBody>
      </p:sp>
      <p:sp>
        <p:nvSpPr>
          <p:cNvPr id="11" name="Shape 9"/>
          <p:cNvSpPr/>
          <p:nvPr/>
        </p:nvSpPr>
        <p:spPr>
          <a:xfrm>
            <a:off x="640080" y="3127248"/>
            <a:ext cx="10881360" cy="1325880"/>
          </a:xfrm>
          <a:prstGeom prst="roundRect">
            <a:avLst>
              <a:gd name="adj" fmla="val 4138"/>
            </a:avLst>
          </a:prstGeom>
          <a:solidFill>
            <a:srgbClr val="E7EDF7"/>
          </a:solidFill>
          <a:ln w="12700">
            <a:solidFill>
              <a:srgbClr val="1E2761"/>
            </a:solidFill>
            <a:prstDash val="solid"/>
          </a:ln>
        </p:spPr>
      </p:sp>
      <p:sp>
        <p:nvSpPr>
          <p:cNvPr id="12" name="Shape 10"/>
          <p:cNvSpPr/>
          <p:nvPr/>
        </p:nvSpPr>
        <p:spPr>
          <a:xfrm>
            <a:off x="914400" y="3566160"/>
            <a:ext cx="457200" cy="457200"/>
          </a:xfrm>
          <a:prstGeom prst="ellipse">
            <a:avLst/>
          </a:prstGeom>
          <a:solidFill>
            <a:srgbClr val="1E2761"/>
          </a:solidFill>
          <a:ln/>
        </p:spPr>
      </p:sp>
      <p:sp>
        <p:nvSpPr>
          <p:cNvPr id="13" name="Text 11"/>
          <p:cNvSpPr txBox="1"/>
          <p:nvPr/>
        </p:nvSpPr>
        <p:spPr>
          <a:xfrm>
            <a:off x="914400"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536192" y="3291840"/>
            <a:ext cx="3657600" cy="347472"/>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Prototyper la voie B</a:t>
            </a:r>
            <a:endParaRPr lang="en-US" sz="1700" dirty="0"/>
          </a:p>
        </p:txBody>
      </p:sp>
      <p:sp>
        <p:nvSpPr>
          <p:cNvPr id="15" name="Text 13"/>
          <p:cNvSpPr txBox="1"/>
          <p:nvPr/>
        </p:nvSpPr>
        <p:spPr>
          <a:xfrm>
            <a:off x="1536192" y="3657600"/>
            <a:ext cx="3657600" cy="274320"/>
          </a:xfrm>
          <a:prstGeom prst="rect">
            <a:avLst/>
          </a:prstGeom>
          <a:noFill/>
          <a:ln/>
        </p:spPr>
        <p:txBody>
          <a:bodyPr wrap="square" lIns="0" tIns="0" rIns="0" bIns="0" rtlCol="0" anchor="ctr"/>
          <a:lstStyle/>
          <a:p>
            <a:pPr indent="0" marL="0">
              <a:buNone/>
            </a:pPr>
            <a:r>
              <a:rPr lang="en-US" sz="1150" b="1" dirty="0">
                <a:solidFill>
                  <a:srgbClr val="3A5F94"/>
                </a:solidFill>
                <a:latin typeface="Calibri" pitchFamily="34" charset="0"/>
                <a:ea typeface="Calibri" pitchFamily="34" charset="-122"/>
                <a:cs typeface="Calibri" pitchFamily="34" charset="-120"/>
              </a:rPr>
              <a:t>2 à 3 semaines</a:t>
            </a:r>
            <a:endParaRPr lang="en-US" sz="1150" dirty="0"/>
          </a:p>
        </p:txBody>
      </p:sp>
      <p:sp>
        <p:nvSpPr>
          <p:cNvPr id="16" name="Text 14"/>
          <p:cNvSpPr txBox="1"/>
          <p:nvPr/>
        </p:nvSpPr>
        <p:spPr>
          <a:xfrm>
            <a:off x="5394960" y="3291840"/>
            <a:ext cx="3977640" cy="100584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Un appel de test réacheminé vers une plateforme, une annonce diffusée à l'appelant, une mise en relation. Puis mesurer les trois points durs, sur les trois opérateurs.</a:t>
            </a:r>
            <a:endParaRPr lang="en-US" sz="1100" dirty="0"/>
          </a:p>
        </p:txBody>
      </p:sp>
      <p:sp>
        <p:nvSpPr>
          <p:cNvPr id="17" name="Text 15"/>
          <p:cNvSpPr txBox="1"/>
          <p:nvPr/>
        </p:nvSpPr>
        <p:spPr>
          <a:xfrm>
            <a:off x="9601200" y="3291840"/>
            <a:ext cx="1737360" cy="1005840"/>
          </a:xfrm>
          <a:prstGeom prst="rect">
            <a:avLst/>
          </a:prstGeom>
          <a:noFill/>
          <a:ln/>
        </p:spPr>
        <p:txBody>
          <a:bodyPr wrap="square" lIns="0" tIns="0" rIns="0" bIns="0" rtlCol="0" anchor="ctr"/>
          <a:lstStyle/>
          <a:p>
            <a:pPr indent="0" marL="0">
              <a:lnSpc>
                <a:spcPts val="1300"/>
              </a:lnSpc>
              <a:buNone/>
            </a:pPr>
            <a:r>
              <a:rPr lang="en-US" sz="1000" i="1" dirty="0">
                <a:solidFill>
                  <a:srgbClr val="5A6480"/>
                </a:solidFill>
                <a:latin typeface="Calibri" pitchFamily="34" charset="0"/>
                <a:ea typeface="Calibri" pitchFamily="34" charset="-122"/>
                <a:cs typeface="Calibri" pitchFamily="34" charset="-120"/>
              </a:rPr>
              <a:t>Critère d'arrêt : que se passe-t-il si le téléphone n'a plus Internet ?</a:t>
            </a:r>
            <a:endParaRPr lang="en-US" sz="1000" dirty="0"/>
          </a:p>
        </p:txBody>
      </p:sp>
      <p:sp>
        <p:nvSpPr>
          <p:cNvPr id="18" name="Shape 16"/>
          <p:cNvSpPr/>
          <p:nvPr/>
        </p:nvSpPr>
        <p:spPr>
          <a:xfrm>
            <a:off x="640080" y="4608576"/>
            <a:ext cx="10881360" cy="1325880"/>
          </a:xfrm>
          <a:prstGeom prst="roundRect">
            <a:avLst>
              <a:gd name="adj" fmla="val 4138"/>
            </a:avLst>
          </a:prstGeom>
          <a:solidFill>
            <a:srgbClr val="F2F5FA"/>
          </a:solidFill>
          <a:ln/>
        </p:spPr>
      </p:sp>
      <p:sp>
        <p:nvSpPr>
          <p:cNvPr id="19" name="Shape 17"/>
          <p:cNvSpPr/>
          <p:nvPr/>
        </p:nvSpPr>
        <p:spPr>
          <a:xfrm>
            <a:off x="914400" y="5047488"/>
            <a:ext cx="457200" cy="457200"/>
          </a:xfrm>
          <a:prstGeom prst="ellipse">
            <a:avLst/>
          </a:prstGeom>
          <a:solidFill>
            <a:srgbClr val="3A5F94"/>
          </a:solidFill>
          <a:ln/>
        </p:spPr>
      </p:sp>
      <p:sp>
        <p:nvSpPr>
          <p:cNvPr id="20" name="Text 18"/>
          <p:cNvSpPr txBox="1"/>
          <p:nvPr/>
        </p:nvSpPr>
        <p:spPr>
          <a:xfrm>
            <a:off x="914400" y="5047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536192" y="4773168"/>
            <a:ext cx="3657600" cy="347472"/>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Ouvrir la voie A en parallèle</a:t>
            </a:r>
            <a:endParaRPr lang="en-US" sz="1700" dirty="0"/>
          </a:p>
        </p:txBody>
      </p:sp>
      <p:sp>
        <p:nvSpPr>
          <p:cNvPr id="22" name="Text 20"/>
          <p:cNvSpPr txBox="1"/>
          <p:nvPr/>
        </p:nvSpPr>
        <p:spPr>
          <a:xfrm>
            <a:off x="1536192" y="5138928"/>
            <a:ext cx="3657600" cy="274320"/>
          </a:xfrm>
          <a:prstGeom prst="rect">
            <a:avLst/>
          </a:prstGeom>
          <a:noFill/>
          <a:ln/>
        </p:spPr>
        <p:txBody>
          <a:bodyPr wrap="square" lIns="0" tIns="0" rIns="0" bIns="0" rtlCol="0" anchor="ctr"/>
          <a:lstStyle/>
          <a:p>
            <a:pPr indent="0" marL="0">
              <a:buNone/>
            </a:pPr>
            <a:r>
              <a:rPr lang="en-US" sz="1150" b="1" dirty="0">
                <a:solidFill>
                  <a:srgbClr val="3A5F94"/>
                </a:solidFill>
                <a:latin typeface="Calibri" pitchFamily="34" charset="0"/>
                <a:ea typeface="Calibri" pitchFamily="34" charset="-122"/>
                <a:cs typeface="Calibri" pitchFamily="34" charset="-120"/>
              </a:rPr>
              <a:t>Dès maintenant</a:t>
            </a:r>
            <a:endParaRPr lang="en-US" sz="1150" dirty="0"/>
          </a:p>
        </p:txBody>
      </p:sp>
      <p:sp>
        <p:nvSpPr>
          <p:cNvPr id="23" name="Text 21"/>
          <p:cNvSpPr txBox="1"/>
          <p:nvPr/>
        </p:nvSpPr>
        <p:spPr>
          <a:xfrm>
            <a:off x="5394960" y="4773168"/>
            <a:ext cx="3977640" cy="1005840"/>
          </a:xfrm>
          <a:prstGeom prst="rect">
            <a:avLst/>
          </a:prstGeom>
          <a:noFill/>
          <a:ln/>
        </p:spPr>
        <p:txBody>
          <a:bodyPr wrap="square" lIns="0" tIns="0" rIns="0" bIns="0" rtlCol="0" anchor="ctr"/>
          <a:lstStyle/>
          <a:p>
            <a:pPr indent="0" marL="0">
              <a:lnSpc>
                <a:spcPts val="1450"/>
              </a:lnSpc>
              <a:buNone/>
            </a:pPr>
            <a:r>
              <a:rPr lang="en-US" sz="1100" dirty="0">
                <a:solidFill>
                  <a:srgbClr val="1A1F36"/>
                </a:solidFill>
                <a:latin typeface="Calibri" pitchFamily="34" charset="0"/>
                <a:ea typeface="Calibri" pitchFamily="34" charset="-122"/>
                <a:cs typeface="Calibri" pitchFamily="34" charset="-120"/>
              </a:rPr>
              <a:t>Premiers contacts avec les trois opérateurs et dépôt du dossier de protection des données. Ces démarches sont longues et ne dépendent pas du développement.</a:t>
            </a:r>
            <a:endParaRPr lang="en-US" sz="1100" dirty="0"/>
          </a:p>
        </p:txBody>
      </p:sp>
      <p:sp>
        <p:nvSpPr>
          <p:cNvPr id="24" name="Text 22"/>
          <p:cNvSpPr txBox="1"/>
          <p:nvPr/>
        </p:nvSpPr>
        <p:spPr>
          <a:xfrm>
            <a:off x="9601200" y="4773168"/>
            <a:ext cx="1737360" cy="1005840"/>
          </a:xfrm>
          <a:prstGeom prst="rect">
            <a:avLst/>
          </a:prstGeom>
          <a:noFill/>
          <a:ln/>
        </p:spPr>
        <p:txBody>
          <a:bodyPr wrap="square" lIns="0" tIns="0" rIns="0" bIns="0" rtlCol="0" anchor="ctr"/>
          <a:lstStyle/>
          <a:p>
            <a:pPr indent="0" marL="0">
              <a:lnSpc>
                <a:spcPts val="1300"/>
              </a:lnSpc>
              <a:buNone/>
            </a:pPr>
            <a:r>
              <a:rPr lang="en-US" sz="1000" i="1" dirty="0">
                <a:solidFill>
                  <a:srgbClr val="5A6480"/>
                </a:solidFill>
                <a:latin typeface="Calibri" pitchFamily="34" charset="0"/>
                <a:ea typeface="Calibri" pitchFamily="34" charset="-122"/>
                <a:cs typeface="Calibri" pitchFamily="34" charset="-120"/>
              </a:rPr>
              <a:t>À lancer sans attendre : c'est le chemin le plus long.</a:t>
            </a:r>
            <a:endParaRPr lang="en-US" sz="1000" dirty="0"/>
          </a:p>
        </p:txBody>
      </p:sp>
      <p:sp>
        <p:nvSpPr>
          <p:cNvPr id="25" name="Shape 23"/>
          <p:cNvSpPr/>
          <p:nvPr/>
        </p:nvSpPr>
        <p:spPr>
          <a:xfrm>
            <a:off x="640080" y="5989320"/>
            <a:ext cx="10881360" cy="502920"/>
          </a:xfrm>
          <a:prstGeom prst="roundRect">
            <a:avLst>
              <a:gd name="adj" fmla="val 10909"/>
            </a:avLst>
          </a:prstGeom>
          <a:solidFill>
            <a:srgbClr val="1E2761"/>
          </a:solidFill>
          <a:ln/>
        </p:spPr>
      </p:sp>
      <p:sp>
        <p:nvSpPr>
          <p:cNvPr id="26" name="Text 24"/>
          <p:cNvSpPr txBox="1"/>
          <p:nvPr/>
        </p:nvSpPr>
        <p:spPr>
          <a:xfrm>
            <a:off x="914400" y="6053328"/>
            <a:ext cx="1033272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Aucun développement de plateforme avant la fin de l'étape 2. C'est ce que demande le §24 de la spécification.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93F"/>
        </a:solidFill>
      </p:bgPr>
    </p:bg>
    <p:spTree>
      <p:nvGrpSpPr>
        <p:cNvPr id="1" name=""/>
        <p:cNvGrpSpPr/>
        <p:nvPr/>
      </p:nvGrpSpPr>
      <p:grpSpPr>
        <a:xfrm>
          <a:off x="0" y="0"/>
          <a:ext cx="0" cy="0"/>
          <a:chOff x="0" y="0"/>
          <a:chExt cx="0" cy="0"/>
        </a:xfrm>
      </p:grpSpPr>
      <p:sp>
        <p:nvSpPr>
          <p:cNvPr id="2" name="Text 0"/>
          <p:cNvSpPr txBox="1"/>
          <p:nvPr/>
        </p:nvSpPr>
        <p:spPr>
          <a:xfrm>
            <a:off x="822960" y="685800"/>
            <a:ext cx="10515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Ce qui est attendu de Call Com</a:t>
            </a:r>
            <a:endParaRPr lang="en-US" sz="3200" dirty="0"/>
          </a:p>
        </p:txBody>
      </p:sp>
      <p:sp>
        <p:nvSpPr>
          <p:cNvPr id="3" name="Text 1"/>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Quatre décisions, indépendantes du développement</a:t>
            </a:r>
            <a:endParaRPr lang="en-US" sz="1500" dirty="0"/>
          </a:p>
        </p:txBody>
      </p:sp>
      <p:sp>
        <p:nvSpPr>
          <p:cNvPr id="4" name="Shape 2"/>
          <p:cNvSpPr/>
          <p:nvPr/>
        </p:nvSpPr>
        <p:spPr>
          <a:xfrm>
            <a:off x="822960" y="2011680"/>
            <a:ext cx="5029200" cy="1325880"/>
          </a:xfrm>
          <a:prstGeom prst="roundRect">
            <a:avLst>
              <a:gd name="adj" fmla="val 4138"/>
            </a:avLst>
          </a:prstGeom>
          <a:solidFill>
            <a:srgbClr val="1C2550"/>
          </a:solidFill>
          <a:ln/>
        </p:spPr>
      </p:sp>
      <p:sp>
        <p:nvSpPr>
          <p:cNvPr id="5" name="Shape 3"/>
          <p:cNvSpPr/>
          <p:nvPr/>
        </p:nvSpPr>
        <p:spPr>
          <a:xfrm>
            <a:off x="1078992" y="2249424"/>
            <a:ext cx="402336" cy="402336"/>
          </a:xfrm>
          <a:prstGeom prst="ellipse">
            <a:avLst/>
          </a:prstGeom>
          <a:solidFill>
            <a:srgbClr val="CADCFC"/>
          </a:solidFill>
          <a:ln/>
        </p:spPr>
      </p:sp>
      <p:sp>
        <p:nvSpPr>
          <p:cNvPr id="6" name="Text 4"/>
          <p:cNvSpPr txBox="1"/>
          <p:nvPr/>
        </p:nvSpPr>
        <p:spPr>
          <a:xfrm>
            <a:off x="1078992" y="2249424"/>
            <a:ext cx="402336" cy="402336"/>
          </a:xfrm>
          <a:prstGeom prst="rect">
            <a:avLst/>
          </a:prstGeom>
          <a:noFill/>
          <a:ln/>
        </p:spPr>
        <p:txBody>
          <a:bodyPr wrap="square" lIns="0" tIns="0" rIns="0" bIns="0" rtlCol="0" anchor="ctr"/>
          <a:lstStyle/>
          <a:p>
            <a:pPr algn="ctr" indent="0" marL="0">
              <a:buNone/>
            </a:pPr>
            <a:r>
              <a:rPr lang="en-US" sz="1300" b="1" dirty="0">
                <a:solidFill>
                  <a:srgbClr val="12193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27632" y="2231136"/>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Valider la demande annonceur</a:t>
            </a:r>
            <a:endParaRPr lang="en-US" sz="1450" dirty="0"/>
          </a:p>
        </p:txBody>
      </p:sp>
      <p:sp>
        <p:nvSpPr>
          <p:cNvPr id="8" name="Text 6"/>
          <p:cNvSpPr txBox="1"/>
          <p:nvPr/>
        </p:nvSpPr>
        <p:spPr>
          <a:xfrm>
            <a:off x="1627632" y="2633472"/>
            <a:ext cx="4023360" cy="594360"/>
          </a:xfrm>
          <a:prstGeom prst="rect">
            <a:avLst/>
          </a:prstGeom>
          <a:noFill/>
          <a:ln/>
        </p:spPr>
        <p:txBody>
          <a:bodyPr wrap="square" lIns="0" tIns="0" rIns="0" bIns="0" rtlCol="0" anchor="ctr"/>
          <a:lstStyle/>
          <a:p>
            <a:pPr indent="0" marL="0">
              <a:lnSpc>
                <a:spcPts val="1450"/>
              </a:lnSpc>
              <a:buNone/>
            </a:pPr>
            <a:r>
              <a:rPr lang="en-US" sz="1100" dirty="0">
                <a:solidFill>
                  <a:srgbClr val="CADCFC"/>
                </a:solidFill>
                <a:latin typeface="Calibri" pitchFamily="34" charset="0"/>
                <a:ea typeface="Calibri" pitchFamily="34" charset="-122"/>
                <a:cs typeface="Calibri" pitchFamily="34" charset="-120"/>
              </a:rPr>
              <a:t>Obtenir de quelques annonceurs tunisiens un prix écrit qu'ils accepteraient de payer par diffusion.</a:t>
            </a:r>
            <a:endParaRPr lang="en-US" sz="1100" dirty="0"/>
          </a:p>
        </p:txBody>
      </p:sp>
      <p:sp>
        <p:nvSpPr>
          <p:cNvPr id="9" name="Shape 7"/>
          <p:cNvSpPr/>
          <p:nvPr/>
        </p:nvSpPr>
        <p:spPr>
          <a:xfrm>
            <a:off x="6217920" y="2011680"/>
            <a:ext cx="5029200" cy="1325880"/>
          </a:xfrm>
          <a:prstGeom prst="roundRect">
            <a:avLst>
              <a:gd name="adj" fmla="val 4138"/>
            </a:avLst>
          </a:prstGeom>
          <a:solidFill>
            <a:srgbClr val="1C2550"/>
          </a:solidFill>
          <a:ln/>
        </p:spPr>
      </p:sp>
      <p:sp>
        <p:nvSpPr>
          <p:cNvPr id="10" name="Shape 8"/>
          <p:cNvSpPr/>
          <p:nvPr/>
        </p:nvSpPr>
        <p:spPr>
          <a:xfrm>
            <a:off x="6473952" y="2249424"/>
            <a:ext cx="402336" cy="402336"/>
          </a:xfrm>
          <a:prstGeom prst="ellipse">
            <a:avLst/>
          </a:prstGeom>
          <a:solidFill>
            <a:srgbClr val="CADCFC"/>
          </a:solidFill>
          <a:ln/>
        </p:spPr>
      </p:sp>
      <p:sp>
        <p:nvSpPr>
          <p:cNvPr id="11" name="Text 9"/>
          <p:cNvSpPr txBox="1"/>
          <p:nvPr/>
        </p:nvSpPr>
        <p:spPr>
          <a:xfrm>
            <a:off x="6473952" y="2249424"/>
            <a:ext cx="402336" cy="402336"/>
          </a:xfrm>
          <a:prstGeom prst="rect">
            <a:avLst/>
          </a:prstGeom>
          <a:noFill/>
          <a:ln/>
        </p:spPr>
        <p:txBody>
          <a:bodyPr wrap="square" lIns="0" tIns="0" rIns="0" bIns="0" rtlCol="0" anchor="ctr"/>
          <a:lstStyle/>
          <a:p>
            <a:pPr algn="ctr" indent="0" marL="0">
              <a:buNone/>
            </a:pPr>
            <a:r>
              <a:rPr lang="en-US" sz="1300" b="1" dirty="0">
                <a:solidFill>
                  <a:srgbClr val="12193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22592" y="2231136"/>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Autoriser le prototype</a:t>
            </a:r>
            <a:endParaRPr lang="en-US" sz="1450" dirty="0"/>
          </a:p>
        </p:txBody>
      </p:sp>
      <p:sp>
        <p:nvSpPr>
          <p:cNvPr id="13" name="Text 11"/>
          <p:cNvSpPr txBox="1"/>
          <p:nvPr/>
        </p:nvSpPr>
        <p:spPr>
          <a:xfrm>
            <a:off x="7022592" y="2633472"/>
            <a:ext cx="4023360" cy="594360"/>
          </a:xfrm>
          <a:prstGeom prst="rect">
            <a:avLst/>
          </a:prstGeom>
          <a:noFill/>
          <a:ln/>
        </p:spPr>
        <p:txBody>
          <a:bodyPr wrap="square" lIns="0" tIns="0" rIns="0" bIns="0" rtlCol="0" anchor="ctr"/>
          <a:lstStyle/>
          <a:p>
            <a:pPr indent="0" marL="0">
              <a:lnSpc>
                <a:spcPts val="1450"/>
              </a:lnSpc>
              <a:buNone/>
            </a:pPr>
            <a:r>
              <a:rPr lang="en-US" sz="1100" dirty="0">
                <a:solidFill>
                  <a:srgbClr val="CADCFC"/>
                </a:solidFill>
                <a:latin typeface="Calibri" pitchFamily="34" charset="0"/>
                <a:ea typeface="Calibri" pitchFamily="34" charset="-122"/>
                <a:cs typeface="Calibri" pitchFamily="34" charset="-120"/>
              </a:rPr>
              <a:t>Environ un mois, avant tout développement de plateforme, comme le prévoit le §24.</a:t>
            </a:r>
            <a:endParaRPr lang="en-US" sz="1100" dirty="0"/>
          </a:p>
        </p:txBody>
      </p:sp>
      <p:sp>
        <p:nvSpPr>
          <p:cNvPr id="14" name="Shape 12"/>
          <p:cNvSpPr/>
          <p:nvPr/>
        </p:nvSpPr>
        <p:spPr>
          <a:xfrm>
            <a:off x="822960" y="3566160"/>
            <a:ext cx="5029200" cy="1325880"/>
          </a:xfrm>
          <a:prstGeom prst="roundRect">
            <a:avLst>
              <a:gd name="adj" fmla="val 4138"/>
            </a:avLst>
          </a:prstGeom>
          <a:solidFill>
            <a:srgbClr val="1C2550"/>
          </a:solidFill>
          <a:ln/>
        </p:spPr>
      </p:sp>
      <p:sp>
        <p:nvSpPr>
          <p:cNvPr id="15" name="Shape 13"/>
          <p:cNvSpPr/>
          <p:nvPr/>
        </p:nvSpPr>
        <p:spPr>
          <a:xfrm>
            <a:off x="1078992" y="3803904"/>
            <a:ext cx="402336" cy="402336"/>
          </a:xfrm>
          <a:prstGeom prst="ellipse">
            <a:avLst/>
          </a:prstGeom>
          <a:solidFill>
            <a:srgbClr val="CADCFC"/>
          </a:solidFill>
          <a:ln/>
        </p:spPr>
      </p:sp>
      <p:sp>
        <p:nvSpPr>
          <p:cNvPr id="16" name="Text 14"/>
          <p:cNvSpPr txBox="1"/>
          <p:nvPr/>
        </p:nvSpPr>
        <p:spPr>
          <a:xfrm>
            <a:off x="1078992" y="3803904"/>
            <a:ext cx="402336" cy="402336"/>
          </a:xfrm>
          <a:prstGeom prst="rect">
            <a:avLst/>
          </a:prstGeom>
          <a:noFill/>
          <a:ln/>
        </p:spPr>
        <p:txBody>
          <a:bodyPr wrap="square" lIns="0" tIns="0" rIns="0" bIns="0" rtlCol="0" anchor="ctr"/>
          <a:lstStyle/>
          <a:p>
            <a:pPr algn="ctr" indent="0" marL="0">
              <a:buNone/>
            </a:pPr>
            <a:r>
              <a:rPr lang="en-US" sz="1300" b="1" dirty="0">
                <a:solidFill>
                  <a:srgbClr val="12193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627632" y="3785616"/>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Engager les démarches longues</a:t>
            </a:r>
            <a:endParaRPr lang="en-US" sz="1450" dirty="0"/>
          </a:p>
        </p:txBody>
      </p:sp>
      <p:sp>
        <p:nvSpPr>
          <p:cNvPr id="18" name="Text 16"/>
          <p:cNvSpPr txBox="1"/>
          <p:nvPr/>
        </p:nvSpPr>
        <p:spPr>
          <a:xfrm>
            <a:off x="1627632" y="4187952"/>
            <a:ext cx="4023360" cy="594360"/>
          </a:xfrm>
          <a:prstGeom prst="rect">
            <a:avLst/>
          </a:prstGeom>
          <a:noFill/>
          <a:ln/>
        </p:spPr>
        <p:txBody>
          <a:bodyPr wrap="square" lIns="0" tIns="0" rIns="0" bIns="0" rtlCol="0" anchor="ctr"/>
          <a:lstStyle/>
          <a:p>
            <a:pPr indent="0" marL="0">
              <a:lnSpc>
                <a:spcPts val="1450"/>
              </a:lnSpc>
              <a:buNone/>
            </a:pPr>
            <a:r>
              <a:rPr lang="en-US" sz="1100" dirty="0">
                <a:solidFill>
                  <a:srgbClr val="CADCFC"/>
                </a:solidFill>
                <a:latin typeface="Calibri" pitchFamily="34" charset="0"/>
                <a:ea typeface="Calibri" pitchFamily="34" charset="-122"/>
                <a:cs typeface="Calibri" pitchFamily="34" charset="-120"/>
              </a:rPr>
              <a:t>Contacts opérateurs et dossier de protection des données : à lancer dès maintenant, en parallèle.</a:t>
            </a:r>
            <a:endParaRPr lang="en-US" sz="1100" dirty="0"/>
          </a:p>
        </p:txBody>
      </p:sp>
      <p:sp>
        <p:nvSpPr>
          <p:cNvPr id="19" name="Shape 17"/>
          <p:cNvSpPr/>
          <p:nvPr/>
        </p:nvSpPr>
        <p:spPr>
          <a:xfrm>
            <a:off x="6217920" y="3566160"/>
            <a:ext cx="5029200" cy="1325880"/>
          </a:xfrm>
          <a:prstGeom prst="roundRect">
            <a:avLst>
              <a:gd name="adj" fmla="val 4138"/>
            </a:avLst>
          </a:prstGeom>
          <a:solidFill>
            <a:srgbClr val="1C2550"/>
          </a:solidFill>
          <a:ln/>
        </p:spPr>
      </p:sp>
      <p:sp>
        <p:nvSpPr>
          <p:cNvPr id="20" name="Shape 18"/>
          <p:cNvSpPr/>
          <p:nvPr/>
        </p:nvSpPr>
        <p:spPr>
          <a:xfrm>
            <a:off x="6473952" y="3803904"/>
            <a:ext cx="402336" cy="402336"/>
          </a:xfrm>
          <a:prstGeom prst="ellipse">
            <a:avLst/>
          </a:prstGeom>
          <a:solidFill>
            <a:srgbClr val="CADCFC"/>
          </a:solidFill>
          <a:ln/>
        </p:spPr>
      </p:sp>
      <p:sp>
        <p:nvSpPr>
          <p:cNvPr id="21" name="Text 19"/>
          <p:cNvSpPr txBox="1"/>
          <p:nvPr/>
        </p:nvSpPr>
        <p:spPr>
          <a:xfrm>
            <a:off x="6473952" y="3803904"/>
            <a:ext cx="402336" cy="402336"/>
          </a:xfrm>
          <a:prstGeom prst="rect">
            <a:avLst/>
          </a:prstGeom>
          <a:noFill/>
          <a:ln/>
        </p:spPr>
        <p:txBody>
          <a:bodyPr wrap="square" lIns="0" tIns="0" rIns="0" bIns="0" rtlCol="0" anchor="ctr"/>
          <a:lstStyle/>
          <a:p>
            <a:pPr algn="ctr" indent="0" marL="0">
              <a:buNone/>
            </a:pPr>
            <a:r>
              <a:rPr lang="en-US" sz="1300" b="1" dirty="0">
                <a:solidFill>
                  <a:srgbClr val="12193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22592" y="3785616"/>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Arbitrer le périmètre V1</a:t>
            </a:r>
            <a:endParaRPr lang="en-US" sz="1450" dirty="0"/>
          </a:p>
        </p:txBody>
      </p:sp>
      <p:sp>
        <p:nvSpPr>
          <p:cNvPr id="23" name="Text 21"/>
          <p:cNvSpPr txBox="1"/>
          <p:nvPr/>
        </p:nvSpPr>
        <p:spPr>
          <a:xfrm>
            <a:off x="7022592" y="4187952"/>
            <a:ext cx="4023360" cy="594360"/>
          </a:xfrm>
          <a:prstGeom prst="rect">
            <a:avLst/>
          </a:prstGeom>
          <a:noFill/>
          <a:ln/>
        </p:spPr>
        <p:txBody>
          <a:bodyPr wrap="square" lIns="0" tIns="0" rIns="0" bIns="0" rtlCol="0" anchor="ctr"/>
          <a:lstStyle/>
          <a:p>
            <a:pPr indent="0" marL="0">
              <a:lnSpc>
                <a:spcPts val="1450"/>
              </a:lnSpc>
              <a:buNone/>
            </a:pPr>
            <a:r>
              <a:rPr lang="en-US" sz="1100" dirty="0">
                <a:solidFill>
                  <a:srgbClr val="CADCFC"/>
                </a:solidFill>
                <a:latin typeface="Calibri" pitchFamily="34" charset="0"/>
                <a:ea typeface="Calibri" pitchFamily="34" charset="-122"/>
                <a:cs typeface="Calibri" pitchFamily="34" charset="-120"/>
              </a:rPr>
              <a:t>Android seul comme le prévoit le §23, et privilégier ou non le crédit téléphonique dans le catalogue.</a:t>
            </a:r>
            <a:endParaRPr lang="en-US" sz="1100" dirty="0"/>
          </a:p>
        </p:txBody>
      </p:sp>
      <p:sp>
        <p:nvSpPr>
          <p:cNvPr id="24" name="Text 22"/>
          <p:cNvSpPr txBox="1"/>
          <p:nvPr/>
        </p:nvSpPr>
        <p:spPr>
          <a:xfrm>
            <a:off x="822960" y="5440680"/>
            <a:ext cx="10515600" cy="457200"/>
          </a:xfrm>
          <a:prstGeom prst="rect">
            <a:avLst/>
          </a:prstGeom>
          <a:noFill/>
          <a:ln/>
        </p:spPr>
        <p:txBody>
          <a:bodyPr wrap="square" lIns="0" tIns="0" rIns="0" bIns="0" rtlCol="0" anchor="ctr"/>
          <a:lstStyle/>
          <a:p>
            <a:pPr indent="0" marL="0">
              <a:lnSpc>
                <a:spcPts val="2200"/>
              </a:lnSpc>
              <a:buNone/>
            </a:pPr>
            <a:r>
              <a:rPr lang="en-US" sz="1700" b="1" dirty="0">
                <a:solidFill>
                  <a:srgbClr val="CADCFC"/>
                </a:solidFill>
                <a:latin typeface="Cambria" pitchFamily="34" charset="0"/>
                <a:ea typeface="Cambria" pitchFamily="34" charset="-122"/>
                <a:cs typeface="Cambria" pitchFamily="34" charset="-120"/>
              </a:rPr>
              <a:t>Le mécanisme de diffusion est la seule inconnue du projet. Tout le reste est constructible dès aujourd'hui.</a:t>
            </a:r>
            <a:endParaRPr lang="en-US" sz="1700" dirty="0"/>
          </a:p>
        </p:txBody>
      </p:sp>
      <p:sp>
        <p:nvSpPr>
          <p:cNvPr id="25" name="Text 23"/>
          <p:cNvSpPr txBox="1"/>
          <p:nvPr/>
        </p:nvSpPr>
        <p:spPr>
          <a:xfrm>
            <a:off x="822960" y="6035040"/>
            <a:ext cx="10515600" cy="320040"/>
          </a:xfrm>
          <a:prstGeom prst="rect">
            <a:avLst/>
          </a:prstGeom>
          <a:noFill/>
          <a:ln/>
        </p:spPr>
        <p:txBody>
          <a:bodyPr wrap="square" lIns="0" tIns="0" rIns="0" bIns="0" rtlCol="0" anchor="ctr"/>
          <a:lstStyle/>
          <a:p>
            <a:pPr indent="0" marL="0">
              <a:buNone/>
            </a:pPr>
            <a:r>
              <a:rPr lang="en-US" sz="1100" dirty="0">
                <a:solidFill>
                  <a:srgbClr val="8A96B4"/>
                </a:solidFill>
                <a:latin typeface="Calibri" pitchFamily="34" charset="0"/>
                <a:ea typeface="Calibri" pitchFamily="34" charset="-122"/>
                <a:cs typeface="Calibri" pitchFamily="34" charset="-120"/>
              </a:rPr>
              <a:t>Analyse détaillée et schéma technique complet : dossier joint, sections 01 et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 Com - Etude de faisabilite technique</dc:title>
  <dc:subject>PptxGenJS Presentation</dc:subject>
  <dc:creator>Conseil technique indépendant</dc:creator>
  <cp:lastModifiedBy>Conseil technique indépendant</cp:lastModifiedBy>
  <cp:revision>1</cp:revision>
  <dcterms:created xsi:type="dcterms:W3CDTF">2026-09-20T09:11:41Z</dcterms:created>
  <dcterms:modified xsi:type="dcterms:W3CDTF">2026-09-20T09:11:41Z</dcterms:modified>
</cp:coreProperties>
</file>