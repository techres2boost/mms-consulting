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en disant : « Je ne viens pas vous présenter une idée. Je viens vous montrer un produit qu'un opérateur a déjà exploité avec succès, et vous dire que vous avez déjà la brique technique pour le faire.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s'attarder. 45 secondes maximum. L'objectif est juste de poser le cadre avant le slide suivant, qui est le vrai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SLIDE QUI COMPTE. Prendre son temps. Laisser un silence après avoir cité les marques. Puis enchaîner sur « Yesss! » — le fait que le groupe Orange l'ait déjà fait désamorce la moitié des objections.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Signaler humblement que la capacité d'affectation par appelant nous vient d'une description publique du service, et que c'est précisément ce que nous venons confirmer. Ne PAS affirmer connaître leur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slide qui répond à « pourquoi vous et pas nous ». Insister : Orange n'a ni l'envie ni la structure pour démarcher des centaines de petits commerçants. Call Com oui.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Énoncer les quatre engagements soi-même, avant qu'on les demande. C'est ce qui fait la différence entre un demandeur et un partenaire. Le quatrième — proposer son propre critère d'arrêt — est celui qui surprend le plus favorablement.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Finir sur ces deux questions et la demande de réunion technique. Ne PAS dérouler les 22 questions ici : le dire, et s'arrêter. La vraie demande de cette réunion est la réunion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réserve : ne sortir que si la discussion devient technique. Le fait de présenter les deux variantes sans imposer la sienne est ce qui crédibilise le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réserve. À sortir si on vous demande « concrètement comment ». Le message central est la ligne « latence ajoutée : 0 ms » — c'est ce que l'équipe cœur de réseau veut entendre.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PARTENARIAT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57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Monétiser la tonalité d'attente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inventaire publicitaire qu'Orange Tunisie possède déjà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120640" cy="914400"/>
          </a:xfrm>
          <a:prstGeom prst="roundRect">
            <a:avLst>
              <a:gd name="adj" fmla="val 6000"/>
            </a:avLst>
          </a:prstGeom>
          <a:solidFill>
            <a:srgbClr val="1E2C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Com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Régie publicitaire audio · Tunisie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· 2 questions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 — 0:45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Vos abonnés attendent. Personne n'en tire rien.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607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la numérotation et le décrochage, il y a un espace audio que vous possédez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F1F6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L'appel part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10128" y="2633472"/>
            <a:ext cx="201168" cy="182880"/>
          </a:xfrm>
          <a:prstGeom prst="rightArrow">
            <a:avLst/>
          </a:prstGeom>
          <a:solidFill>
            <a:srgbClr val="A8BCC9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0" y="201168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065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23317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ligne sonne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7249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à 10 secondes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44768" y="2633472"/>
            <a:ext cx="201168" cy="182880"/>
          </a:xfrm>
          <a:prstGeom prst="rightArrow">
            <a:avLst/>
          </a:prstGeom>
          <a:solidFill>
            <a:srgbClr val="A8BCC9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011680"/>
            <a:ext cx="2606040" cy="1417320"/>
          </a:xfrm>
          <a:prstGeom prst="roundRect">
            <a:avLst>
              <a:gd name="adj" fmla="val 3871"/>
            </a:avLst>
          </a:prstGeom>
          <a:solidFill>
            <a:srgbClr val="F1F6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3317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Décrochage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7249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18320" y="2011680"/>
            <a:ext cx="2103120" cy="1417320"/>
          </a:xfrm>
          <a:prstGeom prst="roundRect">
            <a:avLst>
              <a:gd name="adj" fmla="val 3871"/>
            </a:avLst>
          </a:prstGeom>
          <a:solidFill>
            <a:srgbClr val="E1ED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18320" y="2011680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71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 aujourd'hui</a:t>
            </a:r>
            <a:endParaRPr lang="en-US" sz="4000" dirty="0"/>
          </a:p>
        </p:txBody>
      </p:sp>
      <p:sp>
        <p:nvSpPr>
          <p:cNvPr id="17" name="Shape 15"/>
          <p:cNvSpPr/>
          <p:nvPr/>
        </p:nvSpPr>
        <p:spPr>
          <a:xfrm>
            <a:off x="640080" y="388620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F1F6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0416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proposons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37083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cette attente par une annonce locale de 3 à 4 secondes, pour les abonnés qui l'acceptent. L'annonce s'arrête au décrochage. L'abonné reçoit une contrepartie. L'annonceur paie. Vous partagez le revenu.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0:45 — 1:45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n'est pas une idée. C'est un produit déjà exploité.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607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Turkcell « Tone&amp;Win », lancé en mai 2008 — le même modèle, récompense abonné incluse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9E9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marques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3429000" y="187452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20440" y="187452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9E9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campagnes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0" y="187452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87452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200 000+</a:t>
            </a:r>
            <a:endParaRPr lang="en-US" sz="26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9E9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membres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9006840" y="187452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098280" y="187452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 min</a:t>
            </a:r>
            <a:endParaRPr lang="en-US" sz="26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9E9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offertes / abonné / mois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3520440"/>
            <a:ext cx="6949440" cy="1234440"/>
          </a:xfrm>
          <a:prstGeom prst="roundRect">
            <a:avLst>
              <a:gd name="adj" fmla="val 4444"/>
            </a:avLst>
          </a:prstGeom>
          <a:solidFill>
            <a:srgbClr val="F1F6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annonceurs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950208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· Unilever · Procter &amp; Gamble · Nestlé · Warner Bros.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Burger King · Nivea · Kraft · HSBC · Aviva · marques nationales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818120" y="3520440"/>
            <a:ext cx="3703320" cy="1234440"/>
          </a:xfrm>
          <a:prstGeom prst="roundRect">
            <a:avLst>
              <a:gd name="adj" fmla="val 4444"/>
            </a:avLst>
          </a:prstGeom>
          <a:solidFill>
            <a:srgbClr val="E9F4F0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dans le groupe Orange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395020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L'usage commercial a démarré vers 2008 avec Turkcell, RingPlus — et « Yesss! » d'Orange.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956048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1ED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mécanisme de récompense de Turkcell : l'abonné gagnait du crédit proportionnellement au temps que ses appelants avaient réellement écouté. C'est exactement le modèle que nous proposons.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Mobile Marketer / Marketing Dive · MMA Global · MobiAD News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 — 2:45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avez déjà la brique technique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607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vous demandons pas de construire une plateforme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E9F4F0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12848"/>
            <a:ext cx="237744" cy="237744"/>
          </a:xfrm>
          <a:prstGeom prst="ellipse">
            <a:avLst/>
          </a:prstGeom>
          <a:solidFill>
            <a:srgbClr val="1F7A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25880" y="215798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existe chez vous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33472"/>
            <a:ext cx="48006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Tonalité d'attente personnalisée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sur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*144#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avec abonnement mensuel et catalogue de contenus.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sait déjà remplacer la tonalité réseau par un contenu choisi, et l'interrompre au décrochage.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257800" cy="2377440"/>
          </a:xfrm>
          <a:prstGeom prst="roundRect">
            <a:avLst>
              <a:gd name="adj" fmla="val 2308"/>
            </a:avLst>
          </a:prstGeom>
          <a:solidFill>
            <a:srgbClr val="FAF2DF"/>
          </a:solidFill>
          <a:ln w="12700">
            <a:solidFill>
              <a:srgbClr val="9A6B1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212848"/>
            <a:ext cx="237744" cy="237744"/>
          </a:xfrm>
          <a:prstGeom prst="ellipse">
            <a:avLst/>
          </a:prstGeom>
          <a:solidFill>
            <a:srgbClr val="9A6B1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0" y="215798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venons vérifier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633472"/>
            <a:ext cx="47091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plateforme peut-elle sélectionner le contenu selon des règles publicitaires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zone géographique, dates, plages horaires, rotation — plutôt que selon le choix personnel de l'abonné 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oui, l'écart à franchir est faible.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F1F6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817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position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0109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neuf capacités nécessaires à ce service — variation par appelant, par zone, par date, par plage horaire, rotation, plafonds, consentement, mesure, facturation — une seule constitue un écart réel : l'origine de la décision. Tout le reste existe déjà ou en est une extension mineure.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2:45 — 3:45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Call Com apporte, et que vous ne construirez pas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607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répartition que nous proposons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3383280"/>
          </a:xfrm>
          <a:prstGeom prst="roundRect">
            <a:avLst>
              <a:gd name="adj" fmla="val 1622"/>
            </a:avLst>
          </a:prstGeom>
          <a:solidFill>
            <a:srgbClr val="E1EDF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GARDE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2596896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2514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et la plateforme média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3127248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304495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d'abonnés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657600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88720" y="357530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consentement et la facturation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418795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88720" y="410565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conformité réglementaire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4718304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88720" y="46360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d'abonnés — jamais exportées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1874520"/>
            <a:ext cx="5257800" cy="3383280"/>
          </a:xfrm>
          <a:prstGeom prst="roundRect">
            <a:avLst>
              <a:gd name="adj" fmla="val 1622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COM APPORTE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37960" y="259689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2514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force de vente annonceurs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2788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restaurants, pharmacies, garages, cliniques — des centaines de commerçants locaux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37960" y="325526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317296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régie et les créatifs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37960" y="391363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12280" y="38313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et les récompenses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37960" y="457200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12280" y="44897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back-office et le reporting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8006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ne démarcherez jamais ces annonceurs vous-mêmes. C'est notre métier.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3:45 — 4:30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Notre demande est précise, et petite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607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POC, sans développement de votre côté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488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POC sur 10 à 20 lignes de test, en pré-provisionnement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poussons les contenus et les règles à l'avance. Votre plateforme décide localement. Vous nous remontez les diffusions.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F1F6F9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3538728"/>
            <a:ext cx="347472" cy="34747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502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dépendance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79476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réseau ne dépend jamais de nos systèmes. Le repli est votre tonalité normale, déclenché par un délai de garde de votre côté.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337560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F1F6F9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0" y="3538728"/>
            <a:ext cx="347472" cy="34747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502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kill-switch est chez vous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79476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pouvez couper le service unilatéralement et immédiatement, sans nous consulter.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F1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680" y="4864608"/>
            <a:ext cx="347472" cy="34747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864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8280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donnée personnelle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2064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demandons aucune donnée d'abonné. Un pseudonyme non réversible suffit pour créditer les récompenses.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4663440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F1F6F9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0" y="4864608"/>
            <a:ext cx="347472" cy="34747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4864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48280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critère d'arrêt que nous proposons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512064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mesurerons le taux de décrochage avec et sans annonce. Si les appelants raccrochent davantage, nous arrêtons.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quatre engagements sont pris avant que vous ne les demandiez.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 — 5:00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772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questions pour avancer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898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déterminent entièrement la suite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15600" cy="1463040"/>
          </a:xfrm>
          <a:prstGeom prst="roundRect">
            <a:avLst>
              <a:gd name="adj" fmla="val 3750"/>
            </a:avLst>
          </a:prstGeom>
          <a:solidFill>
            <a:srgbClr val="1E2C4A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514600"/>
            <a:ext cx="548640" cy="548640"/>
          </a:xfrm>
          <a:prstGeom prst="ellipse">
            <a:avLst/>
          </a:prstGeom>
          <a:solidFill>
            <a:srgbClr val="D9E9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31343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Êtes-vous en VoLTE / IMS en production ?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770632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 détermine si l'intégration se fait sur un serveur d'application IMS ou par déclenchement CAMEL. L'effort n'est pas du même ordre.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749040"/>
            <a:ext cx="10515600" cy="1463040"/>
          </a:xfrm>
          <a:prstGeom prst="roundRect">
            <a:avLst>
              <a:gd name="adj" fmla="val 3750"/>
            </a:avLst>
          </a:prstGeom>
          <a:solidFill>
            <a:srgbClr val="1E2C4A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4206240"/>
            <a:ext cx="548640" cy="548640"/>
          </a:xfrm>
          <a:prstGeom prst="ellipse">
            <a:avLst/>
          </a:prstGeom>
          <a:solidFill>
            <a:srgbClr val="D9E9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40050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enregistrements contiennent-ils la durée réellement écoutée 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462272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 qui permet de ne facturer que les annonces effectivement entendues. Sans cela, nous ne pouvons pas vendre un tarif défendable à un annonceur.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E9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une demande : pouvons-nous avoir une réunion avec votre équipe voix 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avons préparé 22 questions techniques. Nous ne vous les posons pas aujourd'hui.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Réserve — deux variantes possibles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607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savons pas laquelle est la plus simple chez vous. Vous, oui.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43891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178308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A — l'appelant entend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78308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B — votre abonné entend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21992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écoute l'annonce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221992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personne qui appelle votre abonné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222199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abonné, quand il appelle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60904"/>
            <a:ext cx="10881360" cy="438912"/>
          </a:xfrm>
          <a:prstGeom prst="rect">
            <a:avLst/>
          </a:prstGeom>
          <a:solidFill>
            <a:srgbClr val="F1F6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6090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consenti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660904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L'appelant n'a rien accepté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660904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L'auditeur est l'abonné inscrit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099816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est récompensé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099816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L'abonné appelé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099816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personne qui écoute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538728"/>
            <a:ext cx="10881360" cy="438912"/>
          </a:xfrm>
          <a:prstGeom prst="rect">
            <a:avLst/>
          </a:prstGeom>
          <a:solidFill>
            <a:srgbClr val="F1F6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538728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Ciblage par zone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353872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si l'appelant est hors réseau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3538728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connaissez votre abonné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977640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 de l'interconnexion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709160" y="39776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397764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416552"/>
            <a:ext cx="10881360" cy="438912"/>
          </a:xfrm>
          <a:prstGeom prst="rect">
            <a:avLst/>
          </a:prstGeom>
          <a:solidFill>
            <a:srgbClr val="F1F6F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4416552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correspondant est à l'étranger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4416552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objet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441655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85546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Précédent commercial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709160" y="4855464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Turkcell Tone&amp;Win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855464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documenté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variante B résout le consentement, le ciblage et l'interconnexion d'un seul coup. Mais c'est vous qui savez ce qui est le moins coûteux à mettre en œuvre.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24160" y="457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Réserve — l'architecture que nous proposons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607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Pré-provisionnement : aucune dépendance de votre réseau à nos systèmes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108960" cy="1371600"/>
          </a:xfrm>
          <a:prstGeom prst="roundRect">
            <a:avLst>
              <a:gd name="adj" fmla="val 4000"/>
            </a:avLst>
          </a:prstGeom>
          <a:solidFill>
            <a:srgbClr val="F1F6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Com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campagnes, règles,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audio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58768" y="2450592"/>
            <a:ext cx="457200" cy="228600"/>
          </a:xfrm>
          <a:prstGeom prst="rightArrow">
            <a:avLst/>
          </a:prstGeom>
          <a:solidFill>
            <a:srgbClr val="A8BCC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57600" y="27432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dépôt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quotidien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34840" y="169164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74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D9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19456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tonalité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d'attente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LOCALE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appel externe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476488" y="2450592"/>
            <a:ext cx="457200" cy="228600"/>
          </a:xfrm>
          <a:prstGeom prst="rightArrow">
            <a:avLst/>
          </a:prstGeom>
          <a:solidFill>
            <a:srgbClr val="A8BCC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0" y="27432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appel réel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 jouée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52560" y="187452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1F6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8972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abonnés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89720" y="23957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application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65760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1ED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38221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3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Vous nous remontez les diffusions en différé : identifiant, durée écoutée, motif d'arrêt, appel décroché ou non. Nous créditons les récompenses et facturons les annonceurs.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754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ajoutée dans l'appel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4754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2303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requis de votre côté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52303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aucun, si l'ingestion de contenu suffit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058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Call Com est indisponible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57058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effet — les règles sont déjà chez vous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Call Com x Orange Tunisie - premiere rencontre</dc:title>
  <dc:subject>PptxGenJS Presentation</dc:subject>
  <dc:creator>PptxGenJS</dc:creator>
  <cp:lastModifiedBy>PptxGenJS</cp:lastModifiedBy>
  <cp:revision>1</cp:revision>
  <dcterms:created xsi:type="dcterms:W3CDTF">2026-09-22T08:49:18Z</dcterms:created>
  <dcterms:modified xsi:type="dcterms:W3CDTF">2026-09-22T08:49:18Z</dcterms:modified>
</cp:coreProperties>
</file>