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ainsi : « Nous ne venons pas vous présenter une architecture. Nous venons valider une faisabilité de principe, parce que nous ne connaissons pas votre réseau. En 5 minutes : pourquoi c'est intéressant, ce qu'un opérateur a déjà fait, et trois questions.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secondes maximum. On pose le cadre, on ne s'attarde pas : le vrai argument est au slide suivant.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SLIDE QUI COMPTE. Prendre son temps, laisser un silence après la liste des marques, puis enchaîner sur « Yesss! » : le fait que le groupe Orange l'ait déjà fait désamorce la moitié des objections.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slide qui établit la crédibilité devant des ingénieurs. Le message : nous avons fait le travail, et nous savons où s'arrête notre connaissance. Ne JAMAIS affirmer connaître leur architecture — la troisième colonne est ce qui rend les deux premières crédibles.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Répond à « pourquoi vous et pas nous ». Noter que la décision de quoi diffuser reste chez Orange dans le scénario que nous proposons : c'est un point qui rassure beaucoup l'équipe réseau.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changement de posture par rapport à une première version : on NE demande PAS un POC en première réunion. On demande une réunion technique et trois réponses. Le POC est la suite, pas la demande. Énoncer les quatre engagements soi-même, avant qu'on les demande.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Finir là et s'arrêter. Ne PAS dérouler la liste longue de questions techniques : la mentionner comme préparée pour la réunion suivante. La vraie demande de ce rendez-vous est le rendez-vous suivant.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réserve, à sortir si la discussion devient technique. Présenter les deux variantes sans imposer la sienne est ce qui crédibilise le 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message central : nous proposons le scénario le moins intrusif pour vous, pas le plus élégant pour nous. « Latence ajoutée : aucune » est ce que l'équipe cœur de réseau veut entendre.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FAISABILITÉ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Monétiser la tonalité d'attente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inventaire publicitaire qu'Orange Tunisie possède déjà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1E2C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Régie publicitaire audio · Tunisie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12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· 3 questions · 1 demande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2416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— 0:45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abonnés attendent. Personne n'en tire rien.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6070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 numérotation et le décrochage, il y a un espace audio que vous possédez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1F6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L'appel part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10128" y="2633472"/>
            <a:ext cx="201168" cy="182880"/>
          </a:xfrm>
          <a:prstGeom prst="rightArrow">
            <a:avLst/>
          </a:prstGeom>
          <a:solidFill>
            <a:srgbClr val="A8BCC9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201168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2331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sonne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724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à 10 secondes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44768" y="2633472"/>
            <a:ext cx="201168" cy="182880"/>
          </a:xfrm>
          <a:prstGeom prst="rightArrow">
            <a:avLst/>
          </a:prstGeom>
          <a:solidFill>
            <a:srgbClr val="A8BCC9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201168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F1F6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331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Décrochage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724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418320" y="2011680"/>
            <a:ext cx="2103120" cy="1417320"/>
          </a:xfrm>
          <a:prstGeom prst="roundRect">
            <a:avLst>
              <a:gd name="adj" fmla="val 3871"/>
            </a:avLst>
          </a:prstGeom>
          <a:solidFill>
            <a:srgbClr val="E1ED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18320" y="20116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71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 aujourd'hui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F1F6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041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proposons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37083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cette attente par une annonce locale de 3 à 4 secondes, pour les abonnés qui l'acceptent. L'annonce s'arrête au décrochage. L'abonné reçoit une contrepartie. L'annonceur paie. Vous partagez le revenu.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2416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— 1:45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pas une idée. C'est un produit déjà exploité.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6070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Turkcell « Tone&amp;Win », lancé en mai 2008 — le même modèle, récompense abonné incluse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9E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marques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8745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9E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campagnes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8745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200 000+</a:t>
            </a:r>
            <a:endParaRPr lang="en-US" sz="2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9E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membres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006840" y="187452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098280" y="187452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min</a:t>
            </a:r>
            <a:endParaRPr lang="en-US" sz="2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9E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offertes / abonné / mois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6949440" cy="1234440"/>
          </a:xfrm>
          <a:prstGeom prst="roundRect">
            <a:avLst>
              <a:gd name="adj" fmla="val 4444"/>
            </a:avLst>
          </a:prstGeom>
          <a:solidFill>
            <a:srgbClr val="F1F6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annonceurs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95020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 · Unilever · Procter &amp; Gamble · Nestlé · Warner Bros.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 King · Nivea · Kraft · HSBC · Aviva · marques nationales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18120" y="3520440"/>
            <a:ext cx="3703320" cy="1234440"/>
          </a:xfrm>
          <a:prstGeom prst="roundRect">
            <a:avLst>
              <a:gd name="adj" fmla="val 4444"/>
            </a:avLst>
          </a:prstGeom>
          <a:solidFill>
            <a:srgbClr val="E9F4F0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9244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dans le groupe Orange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9502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L'usage commercial a démarré vers 2008 avec Turkcell, RingPlus — et « Yesss! » d'Orange.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956048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1EDF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mécanisme de récompense de Turkcell : l'abonné gagnait du crédit proportionnellement au temps que ses appelants avaient réellement écouté. C'est exactement le modèle que nous proposons.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Mobile Marketer / Marketing Dive · MMA Global · MobiAD News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2416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— 2:45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affirmons, et ce que nous ne savons pas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6070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ne connaissons pas votre réseau, et nous ne ferons pas semblant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83280" cy="3931920"/>
          </a:xfrm>
          <a:prstGeom prst="roundRect">
            <a:avLst>
              <a:gd name="adj" fmla="val 1622"/>
            </a:avLst>
          </a:prstGeom>
          <a:solidFill>
            <a:srgbClr val="E9F4F0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201168" cy="20116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19476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AFFIRMONS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 et sourcé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96112" y="2734056"/>
            <a:ext cx="109728" cy="10972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265176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mobile ne peut pas diffuser dans un appel — sur aucun système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3483864"/>
            <a:ext cx="109728" cy="10972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340156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l'appelant entend avant le décrochage est produit par le réseau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" y="4233672"/>
            <a:ext cx="109728" cy="10972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151376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Donc l'insertion se fait dans le réseau, pas ailleurs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4983480"/>
            <a:ext cx="109728" cy="109728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490118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opérateur pair l'a exploité commercialement avec succès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1783080"/>
            <a:ext cx="3383280" cy="3931920"/>
          </a:xfrm>
          <a:prstGeom prst="roundRect">
            <a:avLst>
              <a:gd name="adj" fmla="val 1622"/>
            </a:avLst>
          </a:prstGeom>
          <a:solidFill>
            <a:srgbClr val="FAF2DF"/>
          </a:solidFill>
          <a:ln w="12700">
            <a:solidFill>
              <a:srgbClr val="9A6B1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2011680"/>
            <a:ext cx="201168" cy="201168"/>
          </a:xfrm>
          <a:prstGeom prst="ellipse">
            <a:avLst/>
          </a:prstGeom>
          <a:solidFill>
            <a:srgbClr val="9A6B1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46320" y="19476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9A6B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SUPPOSONS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confirmer par vous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53712" y="2734056"/>
            <a:ext cx="109728" cy="109728"/>
          </a:xfrm>
          <a:prstGeom prst="ellipse">
            <a:avLst/>
          </a:prstGeom>
          <a:solidFill>
            <a:srgbClr val="9A6B1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00600" y="265176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vous exploitez une plateforme de tonalité d'attente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53712" y="3483864"/>
            <a:ext cx="109728" cy="109728"/>
          </a:xfrm>
          <a:prstGeom prst="ellipse">
            <a:avLst/>
          </a:prstGeom>
          <a:solidFill>
            <a:srgbClr val="9A6B1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00600" y="340156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Qu'elle sait varier le contenu selon l'appelant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53712" y="4233672"/>
            <a:ext cx="109728" cy="109728"/>
          </a:xfrm>
          <a:prstGeom prst="ellipse">
            <a:avLst/>
          </a:prstGeom>
          <a:solidFill>
            <a:srgbClr val="9A6B1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0600" y="4151376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Qu'elle enregistre la durée pendant laquelle le contenu a été joué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53712" y="4983480"/>
            <a:ext cx="109728" cy="109728"/>
          </a:xfrm>
          <a:prstGeom prst="ellipse">
            <a:avLst/>
          </a:prstGeom>
          <a:solidFill>
            <a:srgbClr val="9A6B1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00600" y="490118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vous refuserez une dépendance externe dans le chemin d'appel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383280" cy="3931920"/>
          </a:xfrm>
          <a:prstGeom prst="roundRect">
            <a:avLst>
              <a:gd name="adj" fmla="val 1622"/>
            </a:avLst>
          </a:prstGeom>
          <a:solidFill>
            <a:srgbClr val="EEF1F3"/>
          </a:solidFill>
          <a:ln w="12700">
            <a:solidFill>
              <a:srgbClr val="6B7C8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2011680"/>
            <a:ext cx="201168" cy="201168"/>
          </a:xfrm>
          <a:prstGeom prst="ellipse">
            <a:avLst/>
          </a:prstGeom>
          <a:solidFill>
            <a:srgbClr val="6B7C8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3920" y="19476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IGNORONS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c'est pourquoi nous sommes là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11312" y="2734056"/>
            <a:ext cx="109728" cy="109728"/>
          </a:xfrm>
          <a:prstGeom prst="ellipse">
            <a:avLst/>
          </a:prstGeom>
          <a:solidFill>
            <a:srgbClr val="6B7C8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58200" y="265176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quels équipements votre service repose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11312" y="3483864"/>
            <a:ext cx="109728" cy="109728"/>
          </a:xfrm>
          <a:prstGeom prst="ellipse">
            <a:avLst/>
          </a:prstGeom>
          <a:solidFill>
            <a:srgbClr val="6B7C8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58200" y="340156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l'exploite — vous, ou un éditeur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11312" y="4233672"/>
            <a:ext cx="109728" cy="109728"/>
          </a:xfrm>
          <a:prstGeom prst="ellipse">
            <a:avLst/>
          </a:prstGeom>
          <a:solidFill>
            <a:srgbClr val="6B7C8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458200" y="4151376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données de diffusion vous pouvez produire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11312" y="4983480"/>
            <a:ext cx="109728" cy="109728"/>
          </a:xfrm>
          <a:prstGeom prst="ellipse">
            <a:avLst/>
          </a:prstGeom>
          <a:solidFill>
            <a:srgbClr val="6B7C8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58200" y="490118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contraintes réglementaires vous voyez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dossier technique marque chaque affirmation selon ces trois catégories. Nous pouvons vous le laisser.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2416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 — 3:45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répartition que nous proposons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6070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Call Com apporte, et que vous ne construirez pas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383280"/>
          </a:xfrm>
          <a:prstGeom prst="roundRect">
            <a:avLst>
              <a:gd name="adj" fmla="val 1622"/>
            </a:avLst>
          </a:prstGeom>
          <a:solidFill>
            <a:srgbClr val="E1ED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GARDE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587752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et le composant média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026664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2953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d'abonnés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465576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392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et la facturation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904488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3831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conformité réglementaire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343400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88720" y="4270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d'abonnés — jamais exportées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782312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8872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 de quoi diffuser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87452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COM APPORTE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2596896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2514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force de vente annonceurs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788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pharmacies, garages, cliniques — des centaines de commerçants locaux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325526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12280" y="31729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régie et les créatifs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391363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12280" y="38313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et les récompenses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37960" y="457200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44897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back-office et le reporting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4800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ne démarcherez jamais ces annonceurs vous-mêmes. C'est notre métier.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2416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 — 4:30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demande aujourd'hui est petite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6070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ne demandons pas un projet. Nous demandons une validation de principe.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réunion avec votre équipe voix, et trois réponses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505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tout ce dont nous avons besoin pour savoir si ce projet a un avenir chez vous.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272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quatre engagements que nous prenons dès maintenant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1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70332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657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92277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réseau ne dépendra jamais de nos systèmes. Le repli est votre tonalité normale, déclenché par un délai de garde de votre côté.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352044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1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370332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3657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kill-switch est chez vous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392277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pourrez couper le service unilatéralement et immédiatement, sans nous consulter.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1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93776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937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892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personnelle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515721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ne demandons aucune donnée d'abonné. Un pseudonyme non réversible suffit pour créditer les récompenses.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75488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1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93776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4937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4892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critère d'arrêt que nous proposons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30568" y="515721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mesurerons le taux de décrochage avec et sans annonce. Si les appelants raccrochent davantage, nous arrêtons.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 sur quelques lignes de test viendra ensuite — pas aujourd'hui.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2416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 — 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questions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441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 déterminent s'il y a un projet, et lequel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1170432"/>
          </a:xfrm>
          <a:prstGeom prst="roundRect">
            <a:avLst>
              <a:gd name="adj" fmla="val 4688"/>
            </a:avLst>
          </a:prstGeom>
          <a:solidFill>
            <a:srgbClr val="1E2C4A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2295144"/>
            <a:ext cx="502920" cy="502920"/>
          </a:xfrm>
          <a:prstGeom prst="ellipse">
            <a:avLst/>
          </a:prstGeom>
          <a:solidFill>
            <a:srgbClr val="D9E9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15568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847088" y="21488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plateforme peut-elle varier le contenu selon l'appelant et selon la zone ?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25328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rend le ciblage publicitaire possible. Si la réponse est non, nous partons sur une campagne nationale — le projet existe toujours.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64408"/>
            <a:ext cx="10515600" cy="1170432"/>
          </a:xfrm>
          <a:prstGeom prst="roundRect">
            <a:avLst>
              <a:gd name="adj" fmla="val 4688"/>
            </a:avLst>
          </a:prstGeom>
          <a:solidFill>
            <a:srgbClr val="1E2C4A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3593592"/>
            <a:ext cx="502920" cy="502920"/>
          </a:xfrm>
          <a:prstGeom prst="ellipse">
            <a:avLst/>
          </a:prstGeom>
          <a:solidFill>
            <a:srgbClr val="D9E9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44728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Pouvez-vous diffuser à votre propre abonné pendant qu'il attend ?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847088" y="3831336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pas seulement à ses appelants. Cette variante résout d'un coup le consentement, le ciblage et la dépendance à l'interconnexion.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562856"/>
            <a:ext cx="10515600" cy="1170432"/>
          </a:xfrm>
          <a:prstGeom prst="roundRect">
            <a:avLst>
              <a:gd name="adj" fmla="val 4688"/>
            </a:avLst>
          </a:prstGeom>
          <a:solidFill>
            <a:srgbClr val="1E2C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5568" y="4892040"/>
            <a:ext cx="502920" cy="502920"/>
          </a:xfrm>
          <a:prstGeom prst="ellipse">
            <a:avLst/>
          </a:prstGeom>
          <a:solidFill>
            <a:srgbClr val="D9E9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5568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847088" y="4745736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enregistrements contiennent-ils la durée réellement écoutée ?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847088" y="512978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permet de ne facturer que les annonces entendues. Sans cela, nous ne pouvons pas vendre un tarif défendable à un annonceur.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978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E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une demande : une réunion avec votre équipe voix.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2416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Réserve — deux moments possibles pour l'annonce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6070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ne savons pas lequel est le plus simple chez vous. Vous, oui.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7830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A — l'appelant entend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78308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B — votre abonné entend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2199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écoute l'annonce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22199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qui appelle votre abonné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22199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abonné, quand il appelle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60904"/>
            <a:ext cx="10881360" cy="438912"/>
          </a:xfrm>
          <a:prstGeom prst="rect">
            <a:avLst/>
          </a:prstGeom>
          <a:solidFill>
            <a:srgbClr val="F1F6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66090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consenti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66090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L'appelant n'a rien accepté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66090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L'auditeur est l'abonné inscrit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09981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récompensé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09981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L'abonné appelé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09981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personne qui écoute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38728"/>
            <a:ext cx="10881360" cy="438912"/>
          </a:xfrm>
          <a:prstGeom prst="rect">
            <a:avLst/>
          </a:prstGeom>
          <a:solidFill>
            <a:srgbClr val="F1F6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53872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par zone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35387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si l'appelant est chez vous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53872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connaissez votre abonné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97764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 du réseau d'en face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9776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397764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416552"/>
            <a:ext cx="10881360" cy="438912"/>
          </a:xfrm>
          <a:prstGeom prst="rect">
            <a:avLst/>
          </a:prstGeom>
          <a:solidFill>
            <a:srgbClr val="F1F6F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41655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correspondant est à l'étranger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41655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objet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41655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85546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Précédent commercial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48554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Turkcell Tone&amp;Win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85546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documenté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variante B résout le consentement, le ciblage et l'interconnexion d'un seul coup. Mais c'est vous qui savez ce qui est le moins coûteux à mettre en œuvre.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2416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Réserve — trois scénarios d'intégration possibles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6070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proposons le premier. Les deux autres n'existent que si vous les préférez.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83280" cy="3977640"/>
          </a:xfrm>
          <a:prstGeom prst="roundRect">
            <a:avLst>
              <a:gd name="adj" fmla="val 1622"/>
            </a:avLst>
          </a:prstGeom>
          <a:solidFill>
            <a:srgbClr val="E9F4F0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93392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11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PROPOSONS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Pré-provisionnement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déposons contenus et règles à l'avance. Votre plateforme décide localement. Vous nous remontez les diffusions en différé.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3776472"/>
            <a:ext cx="100584" cy="100584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24712" y="370332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ajoutée : aucune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" y="4343400"/>
            <a:ext cx="100584" cy="100584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4712" y="42702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externe : aucune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6112" y="4910328"/>
            <a:ext cx="100584" cy="100584"/>
          </a:xfrm>
          <a:prstGeom prst="ellipse">
            <a:avLst/>
          </a:prstGeom>
          <a:solidFill>
            <a:srgbClr val="1F7A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24712" y="483717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chez vous : probablement aucun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783080"/>
            <a:ext cx="3383280" cy="3977640"/>
          </a:xfrm>
          <a:prstGeom prst="roundRect">
            <a:avLst>
              <a:gd name="adj" fmla="val 1622"/>
            </a:avLst>
          </a:prstGeom>
          <a:solidFill>
            <a:srgbClr val="F1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526280" y="1993392"/>
            <a:ext cx="402336" cy="402336"/>
          </a:xfrm>
          <a:prstGeom prst="ellipse">
            <a:avLst/>
          </a:prstGeom>
          <a:solidFill>
            <a:srgbClr val="5B718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2628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011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LE PRÉFÉREZ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Consultation en temps réel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nous interrogez pendant l'établissement de l'appel. Les fichiers restent chez vous : seule une référence circule.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53712" y="3776472"/>
            <a:ext cx="100584" cy="100584"/>
          </a:xfrm>
          <a:prstGeom prst="ellipse">
            <a:avLst/>
          </a:prstGeom>
          <a:solidFill>
            <a:srgbClr val="5B718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82312" y="370332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souple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53712" y="4343400"/>
            <a:ext cx="100584" cy="100584"/>
          </a:xfrm>
          <a:prstGeom prst="ellipse">
            <a:avLst/>
          </a:prstGeom>
          <a:solidFill>
            <a:srgbClr val="5B71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82312" y="42702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crée une dépendance externe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53712" y="4910328"/>
            <a:ext cx="100584" cy="100584"/>
          </a:xfrm>
          <a:prstGeom prst="ellipse">
            <a:avLst/>
          </a:prstGeom>
          <a:solidFill>
            <a:srgbClr val="5B718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82312" y="483717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ne le demandons pas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383280" cy="3977640"/>
          </a:xfrm>
          <a:prstGeom prst="roundRect">
            <a:avLst>
              <a:gd name="adj" fmla="val 1622"/>
            </a:avLst>
          </a:prstGeom>
          <a:solidFill>
            <a:srgbClr val="F1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183880" y="1993392"/>
            <a:ext cx="402336" cy="402336"/>
          </a:xfrm>
          <a:prstGeom prst="ellipse">
            <a:avLst/>
          </a:prstGeom>
          <a:solidFill>
            <a:srgbClr val="5B718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8388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2011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LE PRÉFÉREZ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 hébergé chez vous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3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fournissons un composant déployé dans votre périmètre. Il fonctionne même si le lien vers nous est coupé.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11312" y="3776472"/>
            <a:ext cx="100584" cy="100584"/>
          </a:xfrm>
          <a:prstGeom prst="ellipse">
            <a:avLst/>
          </a:prstGeom>
          <a:solidFill>
            <a:srgbClr val="5B718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39912" y="370332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sans dépendance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11312" y="4343400"/>
            <a:ext cx="100584" cy="100584"/>
          </a:xfrm>
          <a:prstGeom prst="ellipse">
            <a:avLst/>
          </a:prstGeom>
          <a:solidFill>
            <a:srgbClr val="5B718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439912" y="427024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validation sécurité longue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11312" y="4910328"/>
            <a:ext cx="100584" cy="100584"/>
          </a:xfrm>
          <a:prstGeom prst="ellipse">
            <a:avLst/>
          </a:prstGeom>
          <a:solidFill>
            <a:srgbClr val="5B718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39912" y="483717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envisager plus tard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scénario 1, la décision de quoi diffuser reste entièrement chez vous. C'est celui que nous recommandons pour commencer.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Com x Orange Tunisie - premiere rencontre</dc:title>
  <dc:subject>PptxGenJS Presentation</dc:subject>
  <dc:creator>PptxGenJS</dc:creator>
  <cp:lastModifiedBy>PptxGenJS</cp:lastModifiedBy>
  <cp:revision>1</cp:revision>
  <dcterms:created xsi:type="dcterms:W3CDTF">2026-09-22T13:40:26Z</dcterms:created>
  <dcterms:modified xsi:type="dcterms:W3CDTF">2026-09-22T13:40:26Z</dcterms:modified>
</cp:coreProperties>
</file>